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9659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6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웹 서비스 설계 Mini-project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200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모바일 우선 반응형 웹  ·  접수 · 상태 공유 · 이력 축적을 기록 기반으로 전환한다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1005840" cy="32004"/>
          </a:xfrm>
          <a:prstGeom prst="rect">
            <a:avLst/>
          </a:prstGeom>
          <a:solidFill>
            <a:srgbClr val="3E5AA8"/>
          </a:solidFill>
          <a:ln w="12700">
            <a:solidFill>
              <a:srgbClr val="3E5A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판교캠퍼스 9반 P293  오승민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370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2026.09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10048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6184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27048" y="1636776"/>
            <a:ext cx="412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기획 배경과 현황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1984248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환경 · Pain Points · 원인 분석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4760" y="16184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02856" y="1636776"/>
            <a:ext cx="412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서비스 정의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02856" y="1984248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액터 · 핵심 가치 · 업무 배정 모델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5410048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29626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27048" y="2980944"/>
            <a:ext cx="412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27048" y="3328416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흐름도 · 화면별 API·DB 연결 17종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8728" y="2761488"/>
            <a:ext cx="5410048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4760" y="29626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02856" y="2980944"/>
            <a:ext cx="412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모델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02856" y="3328416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ERD 6테이블 · 정규화 판단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105656"/>
            <a:ext cx="5410048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3068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527048" y="4325112"/>
            <a:ext cx="412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설계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27048" y="4672584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규칙 · 엔드포인트 19종 · 오류 체계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8728" y="4105656"/>
            <a:ext cx="5410048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4760" y="43068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302856" y="4325112"/>
            <a:ext cx="412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고려사항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02856" y="4672584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해결한 이슈 · 남은 과제 · 2차 범위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기획 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환경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판교 소재 오피스 빌딩 B동을 가상 시나리오로 설정한다.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549576" cy="13716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1627632"/>
            <a:ext cx="209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8개 층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139696"/>
            <a:ext cx="209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지상 8층 단일 건물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1680" y="1417320"/>
            <a:ext cx="2549576" cy="13716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9424" y="1627632"/>
            <a:ext cx="209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 500명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19424" y="2139696"/>
            <a:ext cx="209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주간 상주 인원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0440" y="1417320"/>
            <a:ext cx="2549576" cy="13716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8184" y="1627632"/>
            <a:ext cx="209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 카테고리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98184" y="2139696"/>
            <a:ext cx="209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전기·급배수·공조·승강기·보안·비품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39199" y="1417320"/>
            <a:ext cx="2549576" cy="13716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76943" y="1627632"/>
            <a:ext cx="209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 15~20건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376943" y="2139696"/>
            <a:ext cx="209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주간 근무시간 기준 민원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063240"/>
            <a:ext cx="11185855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255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인력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5478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시설물 관리 소장 1명 · 시설물 작업자 5명 (전기 1 · 급배수·위생 2 · 공조 1 · 다목적 1)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8404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작업자 5명이 8개 층·6개 카테고리를 커버하는 동안 접수 창구는 관리실 한 곳뿐이다.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6177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접수는 전화와 대면, 기록은 수기 대장과 담당자의 기억에 의존한다.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010912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접수 · 상태 공유 · 이력 축적 세 지점이 모두 특정 개인의 가용성에 묶여 있다.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기획 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Pain Points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액터별로 현재 운영에서 실제로 실패하는 지점을 정리했다.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521354" cy="4160520"/>
          </a:xfrm>
          <a:prstGeom prst="roundRect">
            <a:avLst>
              <a:gd name="adj" fmla="val 155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1572768"/>
            <a:ext cx="30641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시설물 관리 소장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4088" y="2057400"/>
            <a:ext cx="3119018" cy="1371600"/>
          </a:xfrm>
          <a:prstGeom prst="roundRect">
            <a:avLst>
              <a:gd name="adj" fmla="val 4000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221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AS-01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514600"/>
            <a:ext cx="275325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정비를 요청할 때 근거를 수기 대장이나 기억에 의존해 수치를 제시할 수 없다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" y="3657600"/>
            <a:ext cx="3119018" cy="1371600"/>
          </a:xfrm>
          <a:prstGeom prst="roundRect">
            <a:avLst>
              <a:gd name="adj" fmla="val 4000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3822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4114800"/>
            <a:ext cx="275325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작업자가 어떤 업무를 보유 중인지 몰라 긴급 건을 누구에게 맡길지 판단할 수 없다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5170" y="1371600"/>
            <a:ext cx="3521354" cy="4160520"/>
          </a:xfrm>
          <a:prstGeom prst="roundRect">
            <a:avLst>
              <a:gd name="adj" fmla="val 155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914" y="1572768"/>
            <a:ext cx="30641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시설물 작업자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36338" y="2057400"/>
            <a:ext cx="3119018" cy="1371600"/>
          </a:xfrm>
          <a:prstGeom prst="roundRect">
            <a:avLst>
              <a:gd name="adj" fmla="val 4000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19218" y="2221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AS-03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19218" y="2514600"/>
            <a:ext cx="275325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업무를 즉시 알 수 없어 관리실에 전화하거나 직접 현장에 가야 한다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36338" y="3657600"/>
            <a:ext cx="3119018" cy="1371600"/>
          </a:xfrm>
          <a:prstGeom prst="roundRect">
            <a:avLst>
              <a:gd name="adj" fmla="val 4000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19218" y="3822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AS-04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719218" y="4114800"/>
            <a:ext cx="275325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중복 접수된 건이 여러 번 배정되어 이미 처리한 곳으로 재출동한다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67421" y="1371600"/>
            <a:ext cx="3521354" cy="4160520"/>
          </a:xfrm>
          <a:prstGeom prst="roundRect">
            <a:avLst>
              <a:gd name="adj" fmla="val 155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05165" y="1572768"/>
            <a:ext cx="30641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사용자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368589" y="2057400"/>
            <a:ext cx="3119018" cy="13716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51469" y="2221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AS-05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551469" y="2514600"/>
            <a:ext cx="275325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어디로 신고할지 몰라 지나가는 작업자를 붙잡고 구두로 이야기한다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68589" y="3657600"/>
            <a:ext cx="3119018" cy="13716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51469" y="3822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AS-06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551469" y="4114800"/>
            <a:ext cx="275325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전화번호를 알더라도 응대자가 부재중이면 접수 자체가 이루어지지 않는다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기획 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 분석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수기와 기억에 의존하는 운영 방식은 세 층위에서 문제를 만든다.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85855" cy="1298448"/>
          </a:xfrm>
          <a:prstGeom prst="roundRect">
            <a:avLst>
              <a:gd name="adj" fmla="val 4225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709928"/>
            <a:ext cx="713232" cy="713232"/>
          </a:xfrm>
          <a:prstGeom prst="roundRect">
            <a:avLst>
              <a:gd name="adj" fmla="val 25641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89280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73352" y="167335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접수 채널이 사람에 의존한다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73352" y="20391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전화·대면이 유일한 창구이므로 응대자의 부재가 곧 접수 실패로 이어진다.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11335" y="1673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AS-05 · AS-06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898648"/>
            <a:ext cx="11185855" cy="1298448"/>
          </a:xfrm>
          <a:prstGeom prst="roundRect">
            <a:avLst>
              <a:gd name="adj" fmla="val 4225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3191256"/>
            <a:ext cx="713232" cy="713232"/>
          </a:xfrm>
          <a:prstGeom prst="roundRect">
            <a:avLst>
              <a:gd name="adj" fmla="val 25641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37413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73352" y="315468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 상태가 기록되지 않아 공유되지 않는다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73352" y="3520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상태가 특정 개인의 기억에만 존재해 다른 구성원이 조회할 수 없고 중복도 걸러낼 수 없다.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311335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AS-02 · AS-03 · AS-04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379976"/>
            <a:ext cx="11185855" cy="1298448"/>
          </a:xfrm>
          <a:prstGeom prst="roundRect">
            <a:avLst>
              <a:gd name="adj" fmla="val 4225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4672584"/>
            <a:ext cx="713232" cy="713232"/>
          </a:xfrm>
          <a:prstGeom prst="roundRect">
            <a:avLst>
              <a:gd name="adj" fmla="val 25641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485546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73352" y="463600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 이력이 축적되지 않아 집계할 수 없다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73352" y="50017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완료된 건이 구조화된 형태로 남지 않아 설비별 고장 빈도에 근거한 의사결정이 불가능하다.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11335" y="4636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서비스 정의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액터와 권한 경계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사용자는 인증하지 않는다. 가입 절차가 그 자체로 접수 장벽이 되기 때문이다.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521354" cy="4114800"/>
          </a:xfrm>
          <a:prstGeom prst="roundRect">
            <a:avLst>
              <a:gd name="adj" fmla="val 155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609344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139696"/>
            <a:ext cx="3064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사용자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487168"/>
            <a:ext cx="3064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 500명  ·  비인증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26080"/>
            <a:ext cx="297271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등록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조회 (공개)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본인 민원 수정·취소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5170" y="1371600"/>
            <a:ext cx="3521354" cy="4114800"/>
          </a:xfrm>
          <a:prstGeom prst="roundRect">
            <a:avLst>
              <a:gd name="adj" fmla="val 155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914" y="1609344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914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WORKER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914" y="2139696"/>
            <a:ext cx="3064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시설물 작업자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914" y="2487168"/>
            <a:ext cx="3064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5명  ·  사번 로그인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609490" y="2926080"/>
            <a:ext cx="297271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미배정 민원 선점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 결과 등록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반납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67421" y="1371600"/>
            <a:ext cx="3521354" cy="4114800"/>
          </a:xfrm>
          <a:prstGeom prst="roundRect">
            <a:avLst>
              <a:gd name="adj" fmla="val 155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05165" y="1609344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9A5B08"/>
          </a:solidFill>
          <a:ln w="12700">
            <a:solidFill>
              <a:srgbClr val="9A5B0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05165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ADMIN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405165" y="2139696"/>
            <a:ext cx="3064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시설물 관리 소장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05165" y="2487168"/>
            <a:ext cx="3064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1명  ·  사번 로그인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441741" y="2926080"/>
            <a:ext cx="297271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현황·통계 조회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강제 배정·재배정·회수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분류 정보 수정 · 반려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서비스 정의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가치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사람의 가용성에 묶여 있던 시설 민원 처리 과정을 기록 기반으로 전환한다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521354" cy="1965960"/>
          </a:xfrm>
          <a:prstGeom prst="roundRect">
            <a:avLst>
              <a:gd name="adj" fmla="val 279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04288"/>
            <a:ext cx="2972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접수 누락 방지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61488"/>
            <a:ext cx="2972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응대자의 부재와 무관하게 접수된다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9584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AS-05 · AS-06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5170" y="2057400"/>
            <a:ext cx="3521354" cy="1965960"/>
          </a:xfrm>
          <a:prstGeom prst="roundRect">
            <a:avLst>
              <a:gd name="adj" fmla="val 279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9490" y="2304288"/>
            <a:ext cx="2972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상태 공유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09490" y="2761488"/>
            <a:ext cx="2972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 상태가 관계자 모두에게 동일하게 보인다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09490" y="3529584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AS-02 · AS-03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67421" y="2057400"/>
            <a:ext cx="3521354" cy="1965960"/>
          </a:xfrm>
          <a:prstGeom prst="roundRect">
            <a:avLst>
              <a:gd name="adj" fmla="val 279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41741" y="2304288"/>
            <a:ext cx="2972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이력 축적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41741" y="2761488"/>
            <a:ext cx="2972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완료된 건이 남아 다음 의사결정의 근거가 된다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441741" y="3529584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AS-01 · AS-04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315968"/>
            <a:ext cx="11185855" cy="1005840"/>
          </a:xfrm>
          <a:prstGeom prst="roundRect">
            <a:avLst>
              <a:gd name="adj" fmla="val 5455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498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기능 채택 기준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91456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"이 기능이 접수 누락 방지 · 상태 공유 · 이력 축적 중 무엇에 기여하는가" — 답하지 못하는 기능은 2차 범위로 미뤘다.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서비스 정의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업무 배정 모델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선점(Pull)을 기본으로 하고, 관리소장의 강제 배정을 예외 경로로 둔다.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10048" cy="2148840"/>
          </a:xfrm>
          <a:prstGeom prst="roundRect">
            <a:avLst>
              <a:gd name="adj" fmla="val 2553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91056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경로 — 작업자 선점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86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접수된 민원은 미배정 상태로 공용 목록에 노출되고 작업자가 직접 가져간다.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88336"/>
            <a:ext cx="486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AS-02의 "누구에게 배정할지 판단해야 하는 부담" 자체를 제거한다.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371600"/>
            <a:ext cx="5410048" cy="2148840"/>
          </a:xfrm>
          <a:prstGeom prst="roundRect">
            <a:avLst>
              <a:gd name="adj" fmla="val 2553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1591056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예외 경로 — 관리소장 강제 배정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011680"/>
            <a:ext cx="486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임계 시간을 넘겨 아무도 선점하지 않은 건이나 긴급 건을 직접 배정한다.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688336"/>
            <a:ext cx="486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성립하려면 작업자별 보유 현황이 화면에 있어야 한다. (A-01 필수 요소)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11185855" cy="1737360"/>
          </a:xfrm>
          <a:prstGeom prst="roundRect">
            <a:avLst>
              <a:gd name="adj" fmla="val 315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선점 및 배정 정책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P-01  선점 자격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4297680"/>
            <a:ext cx="8534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 카테고리가 아니어도 선점할 수 있다. 경고만 표시한다. 신고자가 오분류한 민원이 정정 전까지 방치되는 것을 막기 위함.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46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P-02  지연 판정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846320"/>
            <a:ext cx="8534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미배정 대기 시간이 임계값을 넘으면 지연으로 표시한다. 긴급 1시간 / 보통 6시간 / 낮음 24시간.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서비스 정의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상태 전이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전이는 변경 주체·시각과 함께 complaint_history 에 기록된다.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83080" y="224028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EF2FF"/>
          </a:solidFill>
          <a:ln w="15875">
            <a:solidFill>
              <a:srgbClr val="2F5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359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접수됨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670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RECEIVED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224028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FDF4E3"/>
          </a:solidFill>
          <a:ln w="15875">
            <a:solidFill>
              <a:srgbClr val="9A5B0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2359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처리중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670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IN_PROGRESS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92440" y="224028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9F7EE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2359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처리완료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2670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83080" y="452628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F4F6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83080" y="4645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취소됨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4956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CANCELED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452628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F4F6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4645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반려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956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70432" y="2551176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35024" y="2633472"/>
            <a:ext cx="4114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241280" y="251460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05288" y="2578608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1240" y="2633472"/>
            <a:ext cx="29260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11880" y="2450592"/>
            <a:ext cx="1325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502152" y="2048256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선점 / 강제 배정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502152" y="224942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WORKER · ADMIN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11880" y="2889504"/>
            <a:ext cx="1325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502152" y="2953512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반납 / 회수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502152" y="3154680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WORKER · ADMIN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66560" y="2633472"/>
            <a:ext cx="1325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6656832" y="2231136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 결과 등록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656832" y="243230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WORKER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97480" y="3026664"/>
            <a:ext cx="0" cy="14996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2807208" y="35753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취소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807208" y="3794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 · 비밀번호 확인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52160" y="3026664"/>
            <a:ext cx="0" cy="14996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5961888" y="35753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반려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961888" y="3794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ADMIN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92440" y="42062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21040" y="4389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판단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321040" y="46634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담당자 확정(ASSIGNED)과 조치 착수를 하나로 통합했다. 선점 행위가 곧 처리 시작이므로 나누면 실익 없는 조작만 늘어난다. 신고자의 완료 확인 단계도 두지 않는다.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서비스 정의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정책 — 모바일 우선 반응형 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액터마다 사용 기기가 다르다. 하나의 코드가 뷰포트에 따라 레이아웃을 바꾼다.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" y="15179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17922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사용자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현장에서 즉시 신고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645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모바일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304288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" y="24505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WORKER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" y="27249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시설물 작업자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층을 이동하며 확인·처리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5786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모바일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236976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" y="33832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ADMIN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22376" y="3657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시설물 관리 소장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3511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관리실 PC에서 전체 관리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5112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데스크톱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261104"/>
            <a:ext cx="4846320" cy="1517904"/>
          </a:xfrm>
          <a:prstGeom prst="roundRect">
            <a:avLst>
              <a:gd name="adj" fmla="val 36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2376" y="44256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뷰포트 전환 규칙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4700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~ 767px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4700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768px ~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22376" y="49377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내비게이션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4937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하단 고정 탭바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4937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상단 내비게이션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" y="52029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목록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377440" y="52029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1열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52029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다열 그리드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" y="54681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폼 · 상세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377440" y="54681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폭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54681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640px 중앙 정렬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715000" y="13716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데스크톱  1440px</a:t>
            </a:r>
            <a:endParaRPr lang="en-US" sz="1000" dirty="0"/>
          </a:p>
        </p:txBody>
      </p:sp>
      <p:pic>
        <p:nvPicPr>
          <p:cNvPr id="34" name="Image 0" descr="/Users/smoh/my-workspace/WebMiniProject/docs/img/rwd/rwd-user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627632"/>
            <a:ext cx="5943600" cy="2616835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5715000" y="4299331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모바일  390px</a:t>
            </a:r>
            <a:endParaRPr lang="en-US" sz="1000" dirty="0"/>
          </a:p>
        </p:txBody>
      </p:sp>
      <p:pic>
        <p:nvPicPr>
          <p:cNvPr id="36" name="Image 1" descr="/Users/smoh/my-workspace/WebMiniProject/docs/img/rwd/rwd-user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4555363"/>
            <a:ext cx="565764" cy="1223645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6555084" y="4646803"/>
            <a:ext cx="5103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URL · 같은 코드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6555084" y="4939411"/>
            <a:ext cx="5103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브레이크포인트 768px 을 경계로 하단 탭바가 상단 내비게이션으로 바뀌고, 목록이 다열로 흐른다. 별도 앱이나 별도 페이지를 두지 않는다.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UI 흐름도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액터별 진입점과 주 경로. 점선 상자는 모달·오류 상태이며 별도 화면이 아니다.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85855" cy="1481328"/>
          </a:xfrm>
          <a:prstGeom prst="roundRect">
            <a:avLst>
              <a:gd name="adj" fmla="val 370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146304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17556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사용자 · 비인증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47088" y="148132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47088" y="1545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U-01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847088" y="17373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55264" y="1755648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145536" y="14447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신고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11296" y="148132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11296" y="1545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U-02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511296" y="17373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등록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19472" y="1755648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809744" y="14447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접수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75504" y="148132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75504" y="1545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U-03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175504" y="17373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접수 완료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1755648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473952" y="14447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상세 보기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39712" y="148132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9712" y="1545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U-05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839712" y="17373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상세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47888" y="1755648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8138160" y="14447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수정·취소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503920" y="148132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8503920" y="1545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U-06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17373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본인 확인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912096" y="1755648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9802368" y="14447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 통과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168128" y="148132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68128" y="1545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U-07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68128" y="17373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수정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847088" y="213969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조회 경로 :  U-01  →  U-04 민원 조회  →  U-05 민원 상세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2862072"/>
            <a:ext cx="11185855" cy="1481328"/>
          </a:xfrm>
          <a:prstGeom prst="roundRect">
            <a:avLst>
              <a:gd name="adj" fmla="val 3704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9224" y="313639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WORKER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49224" y="342900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시설물 작업자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47088" y="31546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847088" y="3218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W-01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847088" y="34107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직원 로그인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55264" y="3429000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3145536" y="311810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로그인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511296" y="31546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511296" y="3218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W-02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3511296" y="34107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미배정 민원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919472" y="3429000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4809744" y="311810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선택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175504" y="31546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75504" y="3218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W-03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175504" y="34107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상세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583680" y="3429000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6473952" y="311810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 외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39712" y="31546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56" name="Text 54"/>
          <p:cNvSpPr txBox="1"/>
          <p:nvPr/>
        </p:nvSpPr>
        <p:spPr>
          <a:xfrm>
            <a:off x="6839712" y="3218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W-04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6839712" y="34107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 외 경고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247888" y="3429000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8138160" y="311810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선점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503920" y="31546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503920" y="3218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W-05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503920" y="34107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작업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912096" y="3429000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9802368" y="311810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등록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0168128" y="31546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168128" y="3218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W-06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10168128" y="34107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등록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1847088" y="381304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 카테고리면 W-04 없이 W-03 에서 바로 선점 · 선점 충돌 시 E-01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02920" y="4535424"/>
            <a:ext cx="11185855" cy="1481328"/>
          </a:xfrm>
          <a:prstGeom prst="roundRect">
            <a:avLst>
              <a:gd name="adj" fmla="val 3704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49224" y="4809744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ADMIN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49224" y="51023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시설물 관리 소장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847088" y="4828032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847088" y="4892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W-01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1847088" y="50840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직원 로그인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3255264" y="5102352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6" name="Text 74"/>
          <p:cNvSpPr txBox="1"/>
          <p:nvPr/>
        </p:nvSpPr>
        <p:spPr>
          <a:xfrm>
            <a:off x="3145536" y="479145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분기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511296" y="4828032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511296" y="4892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A-01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3511296" y="50840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대시보드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919472" y="5102352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4809744" y="479145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보기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175504" y="4828032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175504" y="4892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A-02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5175504" y="50840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민원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6583680" y="5102352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6" name="Text 84"/>
          <p:cNvSpPr txBox="1"/>
          <p:nvPr/>
        </p:nvSpPr>
        <p:spPr>
          <a:xfrm>
            <a:off x="6473952" y="479145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선택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839712" y="4828032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839712" y="4892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A-03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6839712" y="50840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상세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8247888" y="5102352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1" name="Text 89"/>
          <p:cNvSpPr txBox="1"/>
          <p:nvPr/>
        </p:nvSpPr>
        <p:spPr>
          <a:xfrm>
            <a:off x="8138160" y="479145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배정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503920" y="4828032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93" name="Text 91"/>
          <p:cNvSpPr txBox="1"/>
          <p:nvPr/>
        </p:nvSpPr>
        <p:spPr>
          <a:xfrm>
            <a:off x="8503920" y="4892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A-04</a:t>
            </a:r>
            <a:endParaRPr lang="en-US" sz="900" dirty="0"/>
          </a:p>
        </p:txBody>
      </p:sp>
      <p:sp>
        <p:nvSpPr>
          <p:cNvPr id="94" name="Text 92"/>
          <p:cNvSpPr txBox="1"/>
          <p:nvPr/>
        </p:nvSpPr>
        <p:spPr>
          <a:xfrm>
            <a:off x="8503920" y="50840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강제 배정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9912096" y="5102352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6" name="Text 94"/>
          <p:cNvSpPr txBox="1"/>
          <p:nvPr/>
        </p:nvSpPr>
        <p:spPr>
          <a:xfrm>
            <a:off x="9802368" y="479145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반려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10168128" y="4828032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98" name="Text 96"/>
          <p:cNvSpPr txBox="1"/>
          <p:nvPr/>
        </p:nvSpPr>
        <p:spPr>
          <a:xfrm>
            <a:off x="10168128" y="4892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A-05</a:t>
            </a:r>
            <a:endParaRPr lang="en-US" sz="900" dirty="0"/>
          </a:p>
        </p:txBody>
      </p:sp>
      <p:sp>
        <p:nvSpPr>
          <p:cNvPr id="99" name="Text 97"/>
          <p:cNvSpPr txBox="1"/>
          <p:nvPr/>
        </p:nvSpPr>
        <p:spPr>
          <a:xfrm>
            <a:off x="10168128" y="50840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반려</a:t>
            </a:r>
            <a:endParaRPr lang="en-US" sz="1050" dirty="0"/>
          </a:p>
        </p:txBody>
      </p:sp>
      <p:sp>
        <p:nvSpPr>
          <p:cNvPr id="100" name="Text 98"/>
          <p:cNvSpPr txBox="1"/>
          <p:nvPr/>
        </p:nvSpPr>
        <p:spPr>
          <a:xfrm>
            <a:off x="1847088" y="5486400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A-01  →  A-06 민원 통계</a:t>
            </a:r>
            <a:endParaRPr lang="en-US" sz="950" dirty="0"/>
          </a:p>
        </p:txBody>
      </p:sp>
      <p:sp>
        <p:nvSpPr>
          <p:cNvPr id="101" name="Text 99"/>
          <p:cNvSpPr txBox="1"/>
          <p:nvPr/>
        </p:nvSpPr>
        <p:spPr>
          <a:xfrm>
            <a:off x="502920" y="61447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W-01 직원 로그인은 WORKER · ADMIN 공용이며, 인증 후 역할에 따라 W-02 또는 A-01 로 진입한다.  U-05 · W-03 · A-03 은 같은 민원 상세 레이아웃을 공유하고 액션 영역만 다르다.</a:t>
            </a:r>
            <a:endParaRPr lang="en-US" sz="1050" dirty="0"/>
          </a:p>
        </p:txBody>
      </p:sp>
      <p:sp>
        <p:nvSpPr>
          <p:cNvPr id="102" name="Text 100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103" name="Text 101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건물 사용자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U-01  사용자 홈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로그인 없이 시작한다. 가입 절차 자체가 새로운 접수 장벽이 되기 때문이다.</a:t>
            </a:r>
            <a:endParaRPr lang="en-US" sz="1200" dirty="0"/>
          </a:p>
        </p:txBody>
      </p:sp>
      <p:pic>
        <p:nvPicPr>
          <p:cNvPr id="5" name="Image 0" descr="/Users/smoh/my-workspace/WebMiniProject/docs/img/pc/U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98486"/>
            <a:ext cx="7269480" cy="38164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91272" y="2743429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293608" y="2350237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94776" y="2432533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신고 진입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94776" y="2697709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가입·로그인 없이 바로 신고. C-1(접수 채널이 사람에 의존) 해소의 출발점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91272" y="3697548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293608" y="3304356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94776" y="3386652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/complaints/{id}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94776" y="3651828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번호만으로 접수 내역 조회. 비밀번호를 요구하지 않는다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91272" y="5147809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8293608" y="4754617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94776" y="4836913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직원 진입점 분리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94776" y="5102089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하단 링크로 W-01 직원 로그인 이동. 신고자 동선과 섞이지 않는다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화면은 조회만 수행하며 쓰기가 없다.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U-01 사용자 홈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건물 사용자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U-02  민원 등록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위치·카테고리·우선순위가 그대로 complaint 의 분류 컬럼이 된다.</a:t>
            </a:r>
            <a:endParaRPr lang="en-US" sz="1200" dirty="0"/>
          </a:p>
        </p:txBody>
      </p:sp>
      <p:pic>
        <p:nvPicPr>
          <p:cNvPr id="5" name="Image 0" descr="/Users/smoh/my-workspace/WebMiniProject/docs/img/pc/U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43584"/>
            <a:ext cx="5286166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07958" y="1636776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6310294" y="1243584"/>
            <a:ext cx="5378481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11462" y="1325880"/>
            <a:ext cx="49761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/categories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11462" y="1591056"/>
            <a:ext cx="49761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설비 카테고리 선택지를 채운다. 비인증 호출 가능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07958" y="2542032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6310294" y="2148840"/>
            <a:ext cx="5378481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11462" y="2231136"/>
            <a:ext cx="49761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분류 정보 입력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11462" y="2496312"/>
            <a:ext cx="49761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floor_no · space · category_code · priority — 오분류 시 관리소장이 정정(FR-307)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07958" y="4480560"/>
            <a:ext cx="347472" cy="0"/>
          </a:xfrm>
          <a:prstGeom prst="line">
            <a:avLst/>
          </a:prstGeom>
          <a:noFill/>
          <a:ln w="15875">
            <a:solidFill>
              <a:srgbClr val="9A5B08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6310294" y="4087368"/>
            <a:ext cx="5378481" cy="786384"/>
          </a:xfrm>
          <a:prstGeom prst="roundRect">
            <a:avLst>
              <a:gd name="adj" fmla="val 6977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11462" y="4169664"/>
            <a:ext cx="49761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4자리 비밀번호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511462" y="4434840"/>
            <a:ext cx="49761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인증 수단이 아니라 수정·취소 시 본인 확인 수단. 해시로 저장한다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907958" y="5385816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9" name="Shape 16"/>
          <p:cNvSpPr/>
          <p:nvPr/>
        </p:nvSpPr>
        <p:spPr>
          <a:xfrm>
            <a:off x="6310294" y="4992624"/>
            <a:ext cx="5378481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11462" y="5074920"/>
            <a:ext cx="49761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/complaints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511462" y="5340096"/>
            <a:ext cx="49761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201 Created + 민원 번호 발급. 400 INVALID_PAYLOAD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 INSERT (password_hash) · complaint_photo INSERT (type=REPORT) · complaint_history INSERT (action=REGISTER)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U-02 민원 등록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건물 사용자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U-03  접수 완료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발급된 민원 번호가 이후 조회·수정·취소의 유일한 열쇠다.</a:t>
            </a:r>
            <a:endParaRPr lang="en-US" sz="1200" dirty="0"/>
          </a:p>
        </p:txBody>
      </p:sp>
      <p:pic>
        <p:nvPicPr>
          <p:cNvPr id="5" name="Image 0" descr="/Users/smoh/my-workspace/WebMiniProject/docs/img/pc/U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43584"/>
            <a:ext cx="7100047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1839" y="2510942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124175" y="2117750"/>
            <a:ext cx="3564600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25343" y="2200046"/>
            <a:ext cx="316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접수 확인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325343" y="2465222"/>
            <a:ext cx="316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직전 POST 응답을 표시한다. 별도 조회를 하지 않는다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21839" y="3416198"/>
            <a:ext cx="347472" cy="0"/>
          </a:xfrm>
          <a:prstGeom prst="line">
            <a:avLst/>
          </a:prstGeom>
          <a:noFill/>
          <a:ln w="15875">
            <a:solidFill>
              <a:srgbClr val="9A5B08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124175" y="3023006"/>
            <a:ext cx="3564600" cy="786384"/>
          </a:xfrm>
          <a:prstGeom prst="roundRect">
            <a:avLst>
              <a:gd name="adj" fmla="val 6977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5343" y="3105302"/>
            <a:ext cx="316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M-YYMMDD-XXXXXX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325343" y="3370478"/>
            <a:ext cx="316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순차 증가값이 아닌 비순차 식별자. 열람이 공개이므로 번호 추측을 막는다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21839" y="4321454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8124175" y="3928262"/>
            <a:ext cx="3564600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5343" y="4010558"/>
            <a:ext cx="316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번호 보관 안내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325343" y="4275734"/>
            <a:ext cx="316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 정보를 수집하지 않으므로 번호를 잃으면 조회 경로가 없다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쓰기 없음.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U-03 접수 완료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건물 사용자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U-04  민원 조회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조회 단계에서 본인 확인을 요구하지 않는다. 확인하려는 사람에게 다시 장벽이 되기 때문이다.</a:t>
            </a:r>
            <a:endParaRPr lang="en-US" sz="1200" dirty="0"/>
          </a:p>
        </p:txBody>
      </p:sp>
      <p:pic>
        <p:nvPicPr>
          <p:cNvPr id="5" name="Image 0" descr="/Users/smoh/my-workspace/WebMiniProject/docs/img/pc/U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9956"/>
            <a:ext cx="7269480" cy="42935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91272" y="2648017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293608" y="2254825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94776" y="2337121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/complaints/{id}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94776" y="2602297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단건 조회는 공개. 404 COMPLAINT_NOT_FOUND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91272" y="3592595"/>
            <a:ext cx="347472" cy="0"/>
          </a:xfrm>
          <a:prstGeom prst="line">
            <a:avLst/>
          </a:prstGeom>
          <a:noFill/>
          <a:ln w="15875">
            <a:solidFill>
              <a:srgbClr val="9A5B08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293608" y="3199403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94776" y="3281699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목록은 직원 전용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94776" y="3546875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/complaints(목록)는 ADMIN·WORKER만. 신고자는 단건만 볼 수 있다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 SELECT · complaint_history SELECT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U-04 민원 조회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건물 사용자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U-05  민원 상세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 이력 타임라인이 complaint_history 를 그대로 렌더한다.</a:t>
            </a:r>
            <a:endParaRPr lang="en-US" sz="1200" dirty="0"/>
          </a:p>
        </p:txBody>
      </p:sp>
      <p:pic>
        <p:nvPicPr>
          <p:cNvPr id="5" name="Image 0" descr="/Users/smoh/my-workspace/WebMiniProject/docs/img/pc/U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7038"/>
            <a:ext cx="7269480" cy="41193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91272" y="1858975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293608" y="1465783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94776" y="1548079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상태 뱃지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94776" y="1813255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complaint.status — RECEIVED / IN_PROGRESS / COMPLETED / REJECTED / CANCELED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91272" y="2764231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293608" y="2371039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94776" y="2453335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/complaints/{id}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94776" y="2718511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상태·담당자·조치 결과·이력을 한 번에 반환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91272" y="4165824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8293608" y="3772632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94776" y="3854928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 이력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94776" y="4120104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complaint_history 를 시간순으로 렌더. 이 서비스의 핵심 가치(이력 축적)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91272" y="5236860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9" name="Shape 16"/>
          <p:cNvSpPr/>
          <p:nvPr/>
        </p:nvSpPr>
        <p:spPr>
          <a:xfrm>
            <a:off x="8293608" y="4843668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94776" y="4925964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.../password-verification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494776" y="5191140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수정·취소 진입 전 선행 검증. 401 / 409 를 폼 작성 전에 알린다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SELECT 만 수행.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U-05 민원 상세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건물 사용자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U-07  본인 확인 → 민원 수정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배정 전(RECEIVED)에만 수정할 수 있다. 신고 원문은 신고자만 고칠 수 있다.</a:t>
            </a:r>
            <a:endParaRPr lang="en-US" sz="1200" dirty="0"/>
          </a:p>
        </p:txBody>
      </p:sp>
      <p:pic>
        <p:nvPicPr>
          <p:cNvPr id="5" name="Image 0" descr="/Users/smoh/my-workspace/WebMiniProject/docs/img/pc/U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497607"/>
            <a:ext cx="3561588" cy="2018233"/>
          </a:xfrm>
          <a:prstGeom prst="rect">
            <a:avLst/>
          </a:prstGeom>
        </p:spPr>
      </p:pic>
      <p:pic>
        <p:nvPicPr>
          <p:cNvPr id="6" name="Image 1" descr="/Users/smoh/my-workspace/WebMiniProject/docs/img/pc/U-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981919"/>
            <a:ext cx="3561588" cy="304961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891272" y="2530849"/>
            <a:ext cx="347472" cy="0"/>
          </a:xfrm>
          <a:prstGeom prst="line">
            <a:avLst/>
          </a:prstGeom>
          <a:noFill/>
          <a:ln w="15875">
            <a:solidFill>
              <a:srgbClr val="9A5B08"/>
            </a:solidFill>
            <a:prstDash val="solid"/>
            <a:headEnd type="triangle"/>
          </a:ln>
        </p:spPr>
      </p:sp>
      <p:sp>
        <p:nvSpPr>
          <p:cNvPr id="8" name="Shape 4"/>
          <p:cNvSpPr/>
          <p:nvPr/>
        </p:nvSpPr>
        <p:spPr>
          <a:xfrm>
            <a:off x="8293608" y="2137657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494776" y="2219953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본인 확인 완료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494776" y="2485129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선행 검증을 통과한 상태. 수정 폼에서 비밀번호를 다시 묻지 않는다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891272" y="3659204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2" name="Shape 8"/>
          <p:cNvSpPr/>
          <p:nvPr/>
        </p:nvSpPr>
        <p:spPr>
          <a:xfrm>
            <a:off x="8293608" y="3266012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494776" y="3348308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 가능 범위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494776" y="3613484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제목·내용·사진·위치·카테고리·우선순위 전부. 관리소장은 분류 정보만 수정 가능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891272" y="4879048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6" name="Shape 12"/>
          <p:cNvSpPr/>
          <p:nvPr/>
        </p:nvSpPr>
        <p:spPr>
          <a:xfrm>
            <a:off x="8293608" y="4485856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494776" y="4568152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PATCH /complaints/{id}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494776" y="4833328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body 에 password 포함. 409 NOT_EDITABLE(배정 후)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 UPDATE · complaint_history INSERT (action=UPDATE, to_status=NULL — 상태 전이 아님)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U-07 본인 확인 → 민원 수정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시설물 작업자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W-01  직원 로그인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ADMIN 과 WORKER 가 같은 화면을 쓰고, 인증 후 역할로 갈린다.</a:t>
            </a:r>
            <a:endParaRPr lang="en-US" sz="1200" dirty="0"/>
          </a:p>
        </p:txBody>
      </p:sp>
      <p:pic>
        <p:nvPicPr>
          <p:cNvPr id="5" name="Image 0" descr="/Users/smoh/my-workspace/WebMiniProject/docs/img/pc/W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7907"/>
            <a:ext cx="7269480" cy="39376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91272" y="3506724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293608" y="3113532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94776" y="3195828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/auth/login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94776" y="3461004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사번·비밀번호 → 역할과 담당 카테고리 반환. 401 LOGIN_FAILED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91272" y="4411980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293608" y="4018788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94776" y="4101084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 분기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94776" y="4366260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WORKER → W-02 미배정 민원 / ADMIN → A-01 운영 대시보드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user_account SELECT · worker_category SELECT (담당 카테고리)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W-01 직원 로그인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시설물 작업자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W-02  미배정 민원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선점(Pull) 방식의 출발점. 누구에게 배정할지 판단하는 부담 자체를 없앴다.</a:t>
            </a:r>
            <a:endParaRPr lang="en-US" sz="1200" dirty="0"/>
          </a:p>
        </p:txBody>
      </p:sp>
      <p:pic>
        <p:nvPicPr>
          <p:cNvPr id="5" name="Image 0" descr="/Users/smoh/my-workspace/WebMiniProject/docs/img/pc/W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9837"/>
            <a:ext cx="7269480" cy="35337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91272" y="2199227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293608" y="1806035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94776" y="1888331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카테고리 필터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94776" y="2153507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worker_category 로 본인 담당 여부를 구분 표시. 담당 외도 선점 가능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91272" y="3104483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293608" y="2711291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94776" y="2793587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/complaints?status=RECEIVED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94776" y="3058763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우선순위 → 경과 시간 순 정렬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91272" y="4009739"/>
            <a:ext cx="347472" cy="0"/>
          </a:xfrm>
          <a:prstGeom prst="line">
            <a:avLst/>
          </a:prstGeom>
          <a:noFill/>
          <a:ln w="15875">
            <a:solidFill>
              <a:srgbClr val="9A5B08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8293608" y="3616547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94776" y="3698843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지연 뱃지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94776" y="3964019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파생값. 긴급 1시간 / 보통 6시간 / 낮음 24시간 초과 시 표시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idx_complaint_unassigned (status, priority, created_at) 로 정렬 조회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W-02 미배정 민원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시설물 작업자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W-03  민원 상세 · 선점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현장에 나가기 전에 중복 여부를 판단할 재료를 제공한다. (AS-04)</a:t>
            </a:r>
            <a:endParaRPr lang="en-US" sz="1200" dirty="0"/>
          </a:p>
        </p:txBody>
      </p:sp>
      <p:pic>
        <p:nvPicPr>
          <p:cNvPr id="5" name="Image 0" descr="/Users/smoh/my-workspace/WebMiniProject/docs/img/pc/W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641060"/>
            <a:ext cx="3561588" cy="1731328"/>
          </a:xfrm>
          <a:prstGeom prst="rect">
            <a:avLst/>
          </a:prstGeom>
        </p:spPr>
      </p:pic>
      <p:pic>
        <p:nvPicPr>
          <p:cNvPr id="6" name="Image 1" descr="/Users/smoh/my-workspace/WebMiniProject/docs/img/pc/W-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2641060"/>
            <a:ext cx="3561588" cy="17313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891272" y="2670048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8" name="Shape 4"/>
          <p:cNvSpPr/>
          <p:nvPr/>
        </p:nvSpPr>
        <p:spPr>
          <a:xfrm>
            <a:off x="8293608" y="2276856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494776" y="2359152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/complaints/{id}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494776" y="2624328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신고 내용·위치·사진·이력 조회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891272" y="3575304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2" name="Shape 8"/>
          <p:cNvSpPr/>
          <p:nvPr/>
        </p:nvSpPr>
        <p:spPr>
          <a:xfrm>
            <a:off x="8293608" y="3182112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494776" y="3264408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/complaints/{id}/related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494776" y="3529584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동일 층·공간·카테고리의 미종료 민원. 자동 판정이 아니라 판단 재료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891272" y="4480560"/>
            <a:ext cx="347472" cy="0"/>
          </a:xfrm>
          <a:prstGeom prst="line">
            <a:avLst/>
          </a:prstGeom>
          <a:noFill/>
          <a:ln w="15875">
            <a:solidFill>
              <a:srgbClr val="9A5B08"/>
            </a:solidFill>
            <a:prstDash val="solid"/>
            <a:headEnd type="triangle"/>
          </a:ln>
        </p:spPr>
      </p:sp>
      <p:sp>
        <p:nvSpPr>
          <p:cNvPr id="16" name="Shape 12"/>
          <p:cNvSpPr/>
          <p:nvPr/>
        </p:nvSpPr>
        <p:spPr>
          <a:xfrm>
            <a:off x="8293608" y="4087368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494776" y="4169664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P-01 담당 외 경고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494776" y="4434840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선점은 허용하고 경고만 띄운다. 오분류 민원이 방치되는 것을 막기 위함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891272" y="5385816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20" name="Shape 16"/>
          <p:cNvSpPr/>
          <p:nvPr/>
        </p:nvSpPr>
        <p:spPr>
          <a:xfrm>
            <a:off x="8293608" y="4992624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494776" y="5074920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/complaints/{id}/claim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494776" y="5340096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409 ALREADY_CLAIMED — 두 작업자가 동시에 선점할 때 하나만 성공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 UPDATE (status, assignee_id, assigned_at) · history INSERT (CLAIM, note=담당 외 카테고리)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W-03 민원 상세 · 선점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시설물 작업자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W-05  내 작업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업무를 전화나 현장 방문으로 확인하던 과정이 사라진다. (AS-03)</a:t>
            </a:r>
            <a:endParaRPr lang="en-US" sz="1200" dirty="0"/>
          </a:p>
        </p:txBody>
      </p:sp>
      <p:pic>
        <p:nvPicPr>
          <p:cNvPr id="5" name="Image 0" descr="/Users/smoh/my-workspace/WebMiniProject/docs/img/pc/W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41767"/>
            <a:ext cx="7269480" cy="312991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91272" y="2317356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293608" y="1924164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94776" y="2006460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처리중 / 완료 탭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94776" y="2271636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status 필터. 완료 탭은 본인의 처리 이력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91272" y="3222612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293608" y="2829420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94776" y="2911716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/complaints?assignee=me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94776" y="3176892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assignee=me 는 호출한 작업자 본인을 뜻한다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91272" y="4127868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8293608" y="3734676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94776" y="3816972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등록 진입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94776" y="4082148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W-06 처리 결과 등록으로 이동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idx_complaint_assignee (assignee_id, status)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W-05 내 작업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시설물 작업자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W-06  처리 결과 등록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신고자 확인 단계를 두지 않으므로 이 등록이 최종 상태다.</a:t>
            </a:r>
            <a:endParaRPr lang="en-US" sz="1200" dirty="0"/>
          </a:p>
        </p:txBody>
      </p:sp>
      <p:pic>
        <p:nvPicPr>
          <p:cNvPr id="5" name="Image 0" descr="/Users/smoh/my-workspace/WebMiniProject/docs/img/pc/W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7424"/>
            <a:ext cx="7269480" cy="403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91272" y="2259330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293608" y="1866138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94776" y="1948434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조치 내용 필수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94776" y="2213610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400 RESOLUTION_REQUIRED. 이력 축적의 실질 내용이 여기서 생긴다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91272" y="3551682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293608" y="3158490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94776" y="3240786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소요 시간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94776" y="3505962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resolution_minutes. 통계의 평균 처리 시간과 별개로 작업자 실측치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91272" y="4480560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8293608" y="4087368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94776" y="4169664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/complaints/{id}/completion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94776" y="4434840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IN_PROGRESS → COMPLETED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91272" y="5385816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9" name="Shape 16"/>
          <p:cNvSpPr/>
          <p:nvPr/>
        </p:nvSpPr>
        <p:spPr>
          <a:xfrm>
            <a:off x="8293608" y="4992624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94776" y="5074920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/complaints/{id}/release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494776" y="5340096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반납 시 RECEIVED 복귀. 작성 중 결과는 저장하지 않는다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 UPDATE (status, resolution_content, resolution_minutes, completed_at) · photo INSERT (RESOLUTION) · history INSERT (COMPLETE)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W-06 처리 결과 등록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시설물 관리 소장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A-01  운영 대시보드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개입이 필요한 시점을 판단하는 화면. 강제 배정 경로의 전제 조건이다.</a:t>
            </a:r>
            <a:endParaRPr lang="en-US" sz="1200" dirty="0"/>
          </a:p>
        </p:txBody>
      </p:sp>
      <p:pic>
        <p:nvPicPr>
          <p:cNvPr id="5" name="Image 0" descr="/Users/smoh/my-workspace/WebMiniProject/docs/img/pc/A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7907"/>
            <a:ext cx="7269480" cy="39376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91272" y="1931670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293608" y="1538478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94776" y="1620774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/dashboard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94776" y="1885950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집계·지연 목록·작업자 현황을 한 번의 호출로 반환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91272" y="2836926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293608" y="2443734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94776" y="2526030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상태별 집계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94776" y="2791206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접수됨 / 처리중 / 선점 지연 / 오늘 완료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91272" y="3742182"/>
            <a:ext cx="347472" cy="0"/>
          </a:xfrm>
          <a:prstGeom prst="line">
            <a:avLst/>
          </a:prstGeom>
          <a:noFill/>
          <a:ln w="15875">
            <a:solidFill>
              <a:srgbClr val="9A5B08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8293608" y="3348990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94776" y="3431286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개입이 필요한 민원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94776" y="3696462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P-02 지연 판정 결과. 강제 배정을 언제 쓸지의 기준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91272" y="4806144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9" name="Shape 16"/>
          <p:cNvSpPr/>
          <p:nvPr/>
        </p:nvSpPr>
        <p:spPr>
          <a:xfrm>
            <a:off x="8293608" y="4412952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94776" y="4495248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작업자별 보유 현황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494776" y="4760424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보유 건수만 표시. 상태 모델에 ASSIGNED 가 없어 진행/대기 구분은 만들 수 없다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 GROUP BY status · assignee_id COUNT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A-01 운영 대시보드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시설물 관리 소장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A-02  전체 민원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목록 엔드포인트 하나가 작업자·관리자 네 화면을 담당한다.</a:t>
            </a:r>
            <a:endParaRPr lang="en-US" sz="1200" dirty="0"/>
          </a:p>
        </p:txBody>
      </p:sp>
      <p:pic>
        <p:nvPicPr>
          <p:cNvPr id="5" name="Image 0" descr="/Users/smoh/my-workspace/WebMiniProject/docs/img/pc/A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43584"/>
            <a:ext cx="7242048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2058314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266176" y="1665122"/>
            <a:ext cx="3422599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67344" y="1747418"/>
            <a:ext cx="302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/complaints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67344" y="2012594"/>
            <a:ext cx="30202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status · categoryCode · floorNo · priority · delayed · keyword 조합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63840" y="3144622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266176" y="2751430"/>
            <a:ext cx="3422599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67344" y="2833726"/>
            <a:ext cx="302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담당자 표시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67344" y="3098902"/>
            <a:ext cx="30202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assignee_id → user_account.name. 미배정은 공란으로 구분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질의 조건만 달리해 W-02 · W-05 · A-02 · A-01(지연) 을 모두 처리한다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A-02 전체 민원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시설물 관리 소장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A-03  민원 상세 · 관리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관리소장은 분류 정보만 고칠 수 있다. 신고 원문은 신고자의 진술 기록이다.</a:t>
            </a:r>
            <a:endParaRPr lang="en-US" sz="1200" dirty="0"/>
          </a:p>
        </p:txBody>
      </p:sp>
      <p:pic>
        <p:nvPicPr>
          <p:cNvPr id="5" name="Image 0" descr="/Users/smoh/my-workspace/WebMiniProject/docs/img/pc/A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43584"/>
            <a:ext cx="6517843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9635" y="3416198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7541971" y="3023006"/>
            <a:ext cx="4146804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43139" y="3105302"/>
            <a:ext cx="3744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PATCH .../classification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43139" y="3370478"/>
            <a:ext cx="3744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위치·카테고리·우선순위만 수정. 상태와 무관하게 가능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139635" y="4321454"/>
            <a:ext cx="347472" cy="0"/>
          </a:xfrm>
          <a:prstGeom prst="line">
            <a:avLst/>
          </a:prstGeom>
          <a:noFill/>
          <a:ln w="15875">
            <a:solidFill>
              <a:srgbClr val="9A5B08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7541971" y="3928262"/>
            <a:ext cx="4146804" cy="786384"/>
          </a:xfrm>
          <a:prstGeom prst="roundRect">
            <a:avLst>
              <a:gd name="adj" fmla="val 6977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43139" y="4010558"/>
            <a:ext cx="3744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원문 수정 불가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43139" y="4275734"/>
            <a:ext cx="3744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관리자가 신고 내용을 바꿀 수 있으면 이력 기반이라는 전제가 무너진다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139635" y="5226710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7541971" y="4833518"/>
            <a:ext cx="4146804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43139" y="4915814"/>
            <a:ext cx="3744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 DELETE .../assignment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43139" y="5180990"/>
            <a:ext cx="3744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배정을 하위 리소스로 보고 생성·삭제로 표현. 재배정 / 회수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 UPDATE (분류 컬럼) · history INSERT (UPDATE_CLASSIFICATION, note=변경 필드)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A-03 민원 상세 · 관리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시설물 관리 소장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A-04  강제 배정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아무도 선점하지 않은 건을 소장이 직접 배정하는 예외 경로.</a:t>
            </a:r>
            <a:endParaRPr lang="en-US" sz="1200" dirty="0"/>
          </a:p>
        </p:txBody>
      </p:sp>
      <p:pic>
        <p:nvPicPr>
          <p:cNvPr id="5" name="Image 0" descr="/Users/smoh/my-workspace/WebMiniProject/docs/img/pc/A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43584"/>
            <a:ext cx="7242048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3144622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266176" y="2751430"/>
            <a:ext cx="3422599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67344" y="2833726"/>
            <a:ext cx="302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/workers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67344" y="3098902"/>
            <a:ext cx="30202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작업자별 담당 카테고리와 현재 보유 건수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63840" y="4049878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266176" y="3656686"/>
            <a:ext cx="3422599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67344" y="3738982"/>
            <a:ext cx="302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쏠림 판단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67344" y="4004158"/>
            <a:ext cx="30202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보유 건수를 보고 고른다. 상한 정책 대신 사람이 판단 (9.3)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63840" y="5385816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8266176" y="4992624"/>
            <a:ext cx="3422599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67344" y="5074920"/>
            <a:ext cx="302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.../assignment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67344" y="5340096"/>
            <a:ext cx="30202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404 WORKER_NOT_FOUND / 409 INVALID_STATE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 UPDATE (assignee_id, assigned_at) · history INSERT (ASSIGN / REASSIGN)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A-04 강제 배정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시설물 관리 소장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A-05  민원 반려 · 중복 연결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중복은 사전 탐지가 아니라 사후 정리로 처리한다. (D-01)</a:t>
            </a:r>
            <a:endParaRPr lang="en-US" sz="1200" dirty="0"/>
          </a:p>
        </p:txBody>
      </p:sp>
      <p:pic>
        <p:nvPicPr>
          <p:cNvPr id="5" name="Image 0" descr="/Users/smoh/my-workspace/WebMiniProject/docs/img/pc/A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6942"/>
            <a:ext cx="7269480" cy="41395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91272" y="2347646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293608" y="1954454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94776" y="2036750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반려 사유 유형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94776" y="2301926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DUPLICATE / OUT_OF_SCOPE / INVALID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91272" y="3713702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293608" y="3320510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94776" y="3402806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/complaints?keyword=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94776" y="3667982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 민원 검색. 제목 또는 민원 번호 부분 일치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91272" y="5286737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8293608" y="4893545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94776" y="4975841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.../rejection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94776" y="5241017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중복이면 원본 연결 필수. 400 ORIGINAL_REQUIRED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 UPDATE (rejection_type, rejection_reason, original_complaint_id — complaint 자기참조)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A-05 민원 반려 · 중복 연결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 · 시설물 관리 소장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A-06  민원 통계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정비 요청의 수치 근거. AS-01 이 해소되는 지점이다.</a:t>
            </a:r>
            <a:endParaRPr lang="en-US" sz="1200" dirty="0"/>
          </a:p>
        </p:txBody>
      </p:sp>
      <p:pic>
        <p:nvPicPr>
          <p:cNvPr id="5" name="Image 0" descr="/Users/smoh/my-workspace/WebMiniProject/docs/img/pc/A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88389"/>
            <a:ext cx="7269480" cy="38366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91272" y="2202256"/>
            <a:ext cx="347472" cy="0"/>
          </a:xfrm>
          <a:prstGeom prst="line">
            <a:avLst/>
          </a:prstGeom>
          <a:noFill/>
          <a:ln w="15875">
            <a:solidFill>
              <a:srgbClr val="C81E1E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8293608" y="1809064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94776" y="1891360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/statistics?from&amp;to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94776" y="2156536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기간 미지정 시 전체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91272" y="3107512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1" name="Shape 8"/>
          <p:cNvSpPr/>
          <p:nvPr/>
        </p:nvSpPr>
        <p:spPr>
          <a:xfrm>
            <a:off x="8293608" y="2714320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94776" y="2796616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평균 처리 시간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94776" y="3061792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complaint_history 의 REGISTER ~ COMPLETE 간격으로 산출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91272" y="4197325"/>
            <a:ext cx="347472" cy="0"/>
          </a:xfrm>
          <a:prstGeom prst="line">
            <a:avLst/>
          </a:prstGeom>
          <a:noFill/>
          <a:ln w="15875">
            <a:solidFill>
              <a:srgbClr val="15803D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8293608" y="3804133"/>
            <a:ext cx="3395167" cy="786384"/>
          </a:xfrm>
          <a:prstGeom prst="roundRect">
            <a:avLst>
              <a:gd name="adj" fmla="val 6977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94776" y="3886429"/>
            <a:ext cx="2992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카테고리·위치별 분포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94776" y="4151605"/>
            <a:ext cx="2992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자주 고장나는 설비를 수치로 제시. 수기 대장·기억을 대체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870448"/>
            <a:ext cx="11185855" cy="512064"/>
          </a:xfrm>
          <a:prstGeom prst="roundRect">
            <a:avLst>
              <a:gd name="adj" fmla="val 1071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59984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6035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idx_complaint_stats (category_code, created_at) 로 집계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 흐름 · A-06 민원 통계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UI 흐름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예외 및 오류 상태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예외는 별도 화면이 아니라 모달·비활성 상태로 표현하고, API 응답 코드와 1:1로 대응시킨다.</a:t>
            </a:r>
            <a:endParaRPr lang="en-US" sz="1200" dirty="0"/>
          </a:p>
        </p:txBody>
      </p:sp>
      <p:pic>
        <p:nvPicPr>
          <p:cNvPr id="5" name="Image 0" descr="/Users/smoh/my-workspace/WebMiniProject/docs/img/pc/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67790"/>
            <a:ext cx="2590724" cy="12593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4462272"/>
            <a:ext cx="2590724" cy="1481328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626864"/>
            <a:ext cx="22249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E-01  선점 충돌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882896"/>
            <a:ext cx="22249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409 ALREADY_CLAIMED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138928"/>
            <a:ext cx="22249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작업자가 동시에 선점하면 먼저 도달한 요청만 성공한다. 나머지는 목록으로 되돌린다.</a:t>
            </a:r>
            <a:endParaRPr lang="en-US" sz="1000" dirty="0"/>
          </a:p>
        </p:txBody>
      </p:sp>
      <p:pic>
        <p:nvPicPr>
          <p:cNvPr id="10" name="Image 1" descr="/Users/smoh/my-workspace/WebMiniProject/docs/img/pc/E-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964" y="1963442"/>
            <a:ext cx="2590724" cy="146807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67964" y="4462272"/>
            <a:ext cx="2590724" cy="1481328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550844" y="4626864"/>
            <a:ext cx="22249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E-02  배정 후 수정·취소 제한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550844" y="4882896"/>
            <a:ext cx="22249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409 NOT_EDITABLE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3550844" y="5138928"/>
            <a:ext cx="22249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배정 이후에는 신고자가 내용을 바꾸거나 취소할 수 없다. 버튼을 비활성화하고 이유를 함께 보여준다.</a:t>
            </a:r>
            <a:endParaRPr lang="en-US" sz="1000" dirty="0"/>
          </a:p>
        </p:txBody>
      </p:sp>
      <p:pic>
        <p:nvPicPr>
          <p:cNvPr id="15" name="Image 2" descr="/Users/smoh/my-workspace/WebMiniProject/docs/img/pc/E-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1963442"/>
            <a:ext cx="2590724" cy="146807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33008" y="4462272"/>
            <a:ext cx="2590724" cy="1481328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15888" y="4626864"/>
            <a:ext cx="22249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E-03  민원 취소 확인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6415888" y="4882896"/>
            <a:ext cx="22249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.../cancel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6415888" y="5138928"/>
            <a:ext cx="22249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되돌릴 수 없는 동작이므로 확인 단계를 둔다. 물리 삭제가 아니라 CANCELED 상태 전환이다.</a:t>
            </a:r>
            <a:endParaRPr lang="en-US" sz="1000" dirty="0"/>
          </a:p>
        </p:txBody>
      </p:sp>
      <p:pic>
        <p:nvPicPr>
          <p:cNvPr id="20" name="Image 3" descr="/Users/smoh/my-workspace/WebMiniProject/docs/img/pc/E-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051" y="1977835"/>
            <a:ext cx="2590724" cy="143929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098051" y="4462272"/>
            <a:ext cx="2590724" cy="1481328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280931" y="4626864"/>
            <a:ext cx="22249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E-04  작업 반납 확인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9280931" y="4882896"/>
            <a:ext cx="22249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.../release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280931" y="5138928"/>
            <a:ext cx="22249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작성 중인 처리 결과가 저장되지 않는다는 점과, 다른 작업자가 다시 선점할 수 있다는 점을 알린다.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데이터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ERD — 6 테이블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DBML 원본을 그대로 렌더한 다이어그램이다. 열거형은 가독성을 위해 우측에 목록으로 분리했다.</a:t>
            </a:r>
            <a:endParaRPr lang="en-US" sz="1200" dirty="0"/>
          </a:p>
        </p:txBody>
      </p:sp>
      <p:pic>
        <p:nvPicPr>
          <p:cNvPr id="5" name="Image 0" descr="/Users/smoh/my-workspace/WebMiniProject/docs/img/erd-db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43584"/>
            <a:ext cx="4185543" cy="4617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907024"/>
            <a:ext cx="4185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docs/erd.dbml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209671" y="1243584"/>
            <a:ext cx="3102392" cy="4617720"/>
          </a:xfrm>
          <a:prstGeom prst="roundRect">
            <a:avLst>
              <a:gd name="adj" fmla="val 17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47415" y="1426464"/>
            <a:ext cx="264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정규화 판단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47415" y="1828800"/>
            <a:ext cx="264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47415" y="2075688"/>
            <a:ext cx="26451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층·공간은 민원의 분류 속성일 뿐 독립 조회 대상이 아니다. 등록 화면의 두 드롭다운과 1:1 대응한다.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47415" y="3218688"/>
            <a:ext cx="264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조치 · 반려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47415" y="3465576"/>
            <a:ext cx="26451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COMPLETED / REJECTED 일 때만 채워지는 종결 정보다. "누가 언제 처리했는가"는 complaint_history 가 이미 보관하므로 본체에 중복 컬럼을 두지 않는다.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447415" y="4608576"/>
            <a:ext cx="264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complaint_history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47415" y="4855464"/>
            <a:ext cx="26451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이력 축적이라는 핵심 가치를 담는다. 상세 화면의 타임라인, 평균 처리 시간, 정기 정비 근거가 모두 여기서 나온다. append-only 로 운용한다.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586383" y="1243584"/>
            <a:ext cx="3102392" cy="2212848"/>
          </a:xfrm>
          <a:prstGeom prst="roundRect">
            <a:avLst>
              <a:gd name="adj" fmla="val 247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824127" y="1408176"/>
            <a:ext cx="264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열거형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824127" y="1700784"/>
            <a:ext cx="2645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complaint_status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824127" y="1865376"/>
            <a:ext cx="2645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RECEIVED · IN_PROGRESS · COMPLETED · REJECTED · CANCELED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24127" y="2048256"/>
            <a:ext cx="2645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complaint_priority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824127" y="2212848"/>
            <a:ext cx="2645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URGENT · NORMAL · LOW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24127" y="2395728"/>
            <a:ext cx="2645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space_type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824127" y="2560320"/>
            <a:ext cx="2645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8종 (사무구역 · 화장실 · 탕비실 · 회의실 · 복도 · 기계실 · 로비 · 주차장)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824127" y="2743200"/>
            <a:ext cx="2645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history_action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824127" y="2907792"/>
            <a:ext cx="2645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11종 (REGISTER · CLAIM · RELEASE · COMPLETE · ASSIGN · REJECT …)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824127" y="3090672"/>
            <a:ext cx="2645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rejection_type · photo_type · actor_type · user_role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824127" y="3255264"/>
            <a:ext cx="2645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2~3종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586383" y="3602736"/>
            <a:ext cx="3102392" cy="2258568"/>
          </a:xfrm>
          <a:prstGeom prst="roundRect">
            <a:avLst>
              <a:gd name="adj" fmla="val 242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824127" y="3767328"/>
            <a:ext cx="264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인덱스 — 화면별 조회 패턴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824127" y="4078224"/>
            <a:ext cx="264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(status, priority, created_at)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824127" y="4242816"/>
            <a:ext cx="264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W-02 미배정 목록 정렬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824127" y="4443984"/>
            <a:ext cx="264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(assignee_id, status)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824127" y="4608576"/>
            <a:ext cx="264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W-05 내 작업 · A-01 보유 현황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824127" y="4809744"/>
            <a:ext cx="264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(floor_no, space, category_code, status)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8824127" y="4974336"/>
            <a:ext cx="264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W-03 동일 위치 진행 중 민원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824127" y="5175504"/>
            <a:ext cx="264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(category_code, created_at)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8824127" y="5340096"/>
            <a:ext cx="264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A-06 통계 집계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8824127" y="5541264"/>
            <a:ext cx="264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history (complaint_id, created_at)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8824127" y="5705856"/>
            <a:ext cx="264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 이력 타임라인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API 설계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규칙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경로와 메서드만 보고도 무엇이 일어나는지 읽히도록 정했다.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28336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60934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164592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97864" y="1609344"/>
            <a:ext cx="451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상태 전이는 하위 리소스 조작으로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97864" y="1956816"/>
            <a:ext cx="451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 /complaints/{id}/claim · DELETE /complaints/{id}/assignment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본체에 대한 PATCH 는 상태를 바꾸지 않는 내용 수정에만 쓴다.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0440" y="1371600"/>
            <a:ext cx="5428336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8184" y="160934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8184" y="164592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55384" y="1609344"/>
            <a:ext cx="451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 경로를 권한별로 분리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955384" y="1956816"/>
            <a:ext cx="451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신고자 원문 수정과 관리소장 분류 수정은 수정 가능 필드와 허용 상태가 다르다.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하나로 묶으면 요청 스키마가 조건부가 되어 명세가 흐려진다.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944368"/>
            <a:ext cx="5428336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" y="3182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" y="321868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3182112"/>
            <a:ext cx="451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본인 확인은 인증이 아니라 파라미터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97864" y="3529584"/>
            <a:ext cx="451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조회는 공개라 비밀번호가 없고, 수정·취소 본문에만 4자리 비밀번호를 담는다.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DELETE 본문은 프록시에서 보장되지 않아 취소는 POST .../cancel 로 정의했다.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0440" y="2944368"/>
            <a:ext cx="5428336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8184" y="3182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8184" y="321868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55384" y="3182112"/>
            <a:ext cx="451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목록은 직원 전용, 단건은 공개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955384" y="3529584"/>
            <a:ext cx="451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민원 번호를 아는 사람만 자기 민원을 볼 수 있어야 한다.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목록 조회와 단건 조회의 접근 범위를 다르게 뒀다.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526280"/>
            <a:ext cx="11185855" cy="1234440"/>
          </a:xfrm>
          <a:prstGeom prst="roundRect">
            <a:avLst>
              <a:gd name="adj" fmla="val 444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목록 엔드포인트 하나가 네 화면을 담당한다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029200"/>
            <a:ext cx="247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W-02 미배정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266944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status=RECEIVED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436544" y="5029200"/>
            <a:ext cx="247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W-05 내 작업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436544" y="5266944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assignee=me&amp;status=IN_PROGRESS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095848" y="5029200"/>
            <a:ext cx="247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A-02 전체 민원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095848" y="5266944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필터 조합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755151" y="5029200"/>
            <a:ext cx="247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A-01 지연 민원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755151" y="5266944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status=RECEIVED&amp;delayed=true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API 설계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엔드포인트 19종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OAS 3.0 으로 작성했으며 Security Schemes 는 과제 범위에 따라 제외했다.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89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13350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5361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FR-101 민원 등록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8105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8470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17922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/complaints/{id}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19933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FR-102 단건 조회 (공개)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2677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3042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22494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/complaints/{id}/password-verification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24505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수정·취소 선행 본인 확인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9A5B08"/>
          </a:solidFill>
          <a:ln w="12700">
            <a:solidFill>
              <a:srgbClr val="9A5B0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27614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PATCH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252728" y="27066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/complaints/{id}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29077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FR-103 원문 수정 (신고자)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1821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32186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252728" y="31638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/complaints/{id}/cancel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252728" y="33649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FR-104 취소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6393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3675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252728" y="36210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/auth/login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252728" y="38221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FR-001 직원 로그인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0965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" y="41330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252728" y="40782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252728" y="42793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FR-201 · 204 · 301 · 302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45537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" y="45902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252728" y="45354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/complaints/{id}/related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252728" y="47365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FR-206 동일 위치 진행 중 민원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50109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2920" y="50474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252728" y="49926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/complaints/{id}/claim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252728" y="51937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FR-202 선점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54681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2920" y="55046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252728" y="54498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/complaints/{id}/release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252728" y="56509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FR-203 반납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78728" y="13533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78728" y="1389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7028536" y="13350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/complaints/{id}/completion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028536" y="15361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FR-205 처리 결과 등록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78728" y="18105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278728" y="18470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7028536" y="17922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/dashboard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7028536" y="19933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FR-301 · 302 · 303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78728" y="22677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78728" y="23042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7028536" y="22494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/workers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7028536" y="24505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FR-303 작업자별 보유 현황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78728" y="27249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278728" y="27614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7028536" y="27066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/complaints/{id}/assignment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028536" y="29077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FR-304 강제 배정 / FR-305 재배정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78728" y="31821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278728" y="32186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DELETE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7028536" y="31638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/complaints/{id}/assignment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7028536" y="33649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FR-306 배정 회수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278728" y="36393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9A5B08"/>
          </a:solidFill>
          <a:ln w="12700">
            <a:solidFill>
              <a:srgbClr val="9A5B0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278728" y="3675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PATCH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7028536" y="36210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/complaints/{id}/classification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7028536" y="38221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FR-307 분류 정보 수정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78728" y="40965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278728" y="41330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7028536" y="40782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/complaints/{id}/rejection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7028536" y="42793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FR-308 반려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278728" y="45537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278728" y="45902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7028536" y="45354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/statistics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7028536" y="47365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FR-309 통계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278728" y="5010912"/>
            <a:ext cx="658368" cy="274320"/>
          </a:xfrm>
          <a:prstGeom prst="roundRect">
            <a:avLst>
              <a:gd name="adj" fmla="val 23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278728" y="50474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</a:t>
            </a:r>
            <a:endParaRPr lang="en-US" sz="800" dirty="0"/>
          </a:p>
        </p:txBody>
      </p:sp>
      <p:sp>
        <p:nvSpPr>
          <p:cNvPr id="79" name="Text 77"/>
          <p:cNvSpPr txBox="1"/>
          <p:nvPr/>
        </p:nvSpPr>
        <p:spPr>
          <a:xfrm>
            <a:off x="7028536" y="49926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/categories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7028536" y="5193792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등록 화면 카테고리 선택지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278728" y="5532120"/>
            <a:ext cx="5410048" cy="822960"/>
          </a:xfrm>
          <a:prstGeom prst="roundRect">
            <a:avLst>
              <a:gd name="adj" fmla="val 6667"/>
            </a:avLst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479896" y="5650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E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오류 코드</a:t>
            </a:r>
            <a:endParaRPr lang="en-US" sz="1050" dirty="0"/>
          </a:p>
        </p:txBody>
      </p:sp>
      <p:sp>
        <p:nvSpPr>
          <p:cNvPr id="83" name="Text 81"/>
          <p:cNvSpPr txBox="1"/>
          <p:nvPr/>
        </p:nvSpPr>
        <p:spPr>
          <a:xfrm>
            <a:off x="6479896" y="5870448"/>
            <a:ext cx="500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400 INVALID_PAYLOAD · ORIGINAL_REQUIRED   |   401 PASSWORD_MISMATCH · LOGIN_FAILED   |   403 FORBIDDEN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404 COMPLAINT_NOT_FOUND · WORKER_NOT_FOUND   |   409 ALREADY_CLAIMED · NOT_EDITABLE · INVALID_STATE</a:t>
            </a:r>
            <a:endParaRPr 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모바일 와이어프레임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원본은 모바일 기준으로 작성했다. 앞의 화면들은 같은 코드가 768px 이상에서 전환된 결과다.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71600"/>
            <a:ext cx="25907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사용자 USER</a:t>
            </a:r>
            <a:endParaRPr lang="en-US" sz="1100" dirty="0"/>
          </a:p>
        </p:txBody>
      </p:sp>
      <p:pic>
        <p:nvPicPr>
          <p:cNvPr id="6" name="Image 0" descr="/Users/smoh/my-workspace/WebMiniProject/docs/img/wf-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2590724" cy="27882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67964" y="1371600"/>
            <a:ext cx="25907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시설물 작업자 WORKER</a:t>
            </a:r>
            <a:endParaRPr lang="en-US" sz="1100" dirty="0"/>
          </a:p>
        </p:txBody>
      </p:sp>
      <p:pic>
        <p:nvPicPr>
          <p:cNvPr id="8" name="Image 1" descr="/Users/smoh/my-workspace/WebMiniProject/docs/img/wf-wor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964" y="1682496"/>
            <a:ext cx="2590724" cy="279960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33008" y="1371600"/>
            <a:ext cx="25907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시설물 관리 소장 ADMIN</a:t>
            </a:r>
            <a:endParaRPr lang="en-US" sz="1100" dirty="0"/>
          </a:p>
        </p:txBody>
      </p:sp>
      <p:pic>
        <p:nvPicPr>
          <p:cNvPr id="10" name="Image 2" descr="/Users/smoh/my-workspace/WebMiniProject/docs/img/wf-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1682496"/>
            <a:ext cx="2590724" cy="274131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098051" y="1371600"/>
            <a:ext cx="25907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예외 및 오류 상태</a:t>
            </a:r>
            <a:endParaRPr lang="en-US" sz="1100" dirty="0"/>
          </a:p>
        </p:txBody>
      </p:sp>
      <p:pic>
        <p:nvPicPr>
          <p:cNvPr id="12" name="Image 3" descr="/Users/smoh/my-workspace/WebMiniProject/docs/img/wf-excep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051" y="1682496"/>
            <a:ext cx="2590724" cy="1539861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고려사항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판단과 남은 과제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28336" cy="4480560"/>
          </a:xfrm>
          <a:prstGeom prst="roundRect">
            <a:avLst>
              <a:gd name="adj" fmla="val 1224"/>
            </a:avLst>
          </a:prstGeom>
          <a:solidFill>
            <a:srgbClr val="E9F7EE"/>
          </a:solidFill>
          <a:ln w="12700">
            <a:solidFill>
              <a:srgbClr val="E9F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487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해결한 이슈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93392"/>
            <a:ext cx="487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수정·취소의 비밀번호 전달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9424"/>
            <a:ext cx="487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DELETE 본문은 프록시에서 보장되지 않고 취소가 물리 삭제도 아니므로 POST .../cancel 로 정의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62656"/>
            <a:ext cx="487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동일 리소스의 두 수정 경로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18688"/>
            <a:ext cx="487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 가능 필드와 허용 상태가 달라 경로를 분리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31920"/>
            <a:ext cx="487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열람 공개에 따른 번호 추측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87952"/>
            <a:ext cx="487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비순차 식별자 M-YYMMDD-XXXXXX, 혼동 문자 제외 32자 집합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901184"/>
            <a:ext cx="487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작업자 보유 현황 표시 단위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157216"/>
            <a:ext cx="487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상태 모델에 ASSIGNED 가 없어 진행/대기 구분은 만들 수 없는 수치 — 보유 건수만 표시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0440" y="1325880"/>
            <a:ext cx="5428336" cy="2148840"/>
          </a:xfrm>
          <a:prstGeom prst="roundRect">
            <a:avLst>
              <a:gd name="adj" fmla="val 2553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4760" y="1536192"/>
            <a:ext cx="487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B0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남은 과제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34760" y="19933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4자리 비밀번호의 강도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460840" y="1993392"/>
            <a:ext cx="1953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무차별 대입에 취약 — 시도 횟수 제한 필요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34760" y="24871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비인증 접수의 악용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460840" y="2487168"/>
            <a:ext cx="1953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허위 신고 사전 통제 수단 없음 — 반려로 사후 대응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34760" y="29809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중복 민원 사전 탐지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460840" y="2980944"/>
            <a:ext cx="1953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 기준의 정확도를 검증할 근거가 없어 미도입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0440" y="3657600"/>
            <a:ext cx="5428336" cy="2148840"/>
          </a:xfrm>
          <a:prstGeom prst="roundRect">
            <a:avLst>
              <a:gd name="adj" fmla="val 255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4760" y="3858768"/>
            <a:ext cx="487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2차 범위로 미룬 기능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34760" y="4206240"/>
            <a:ext cx="487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공지 · 정기 점검 스케줄링 · 비용·자재 정산 · 외주 업체 관리 · 부품 재고 · 외부 알림 연동 · 다건물 확장 · 작업자 보유 상한 · 신고자의 완료 확인과 재요청 · 기준 데이터 관리 화면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534760" y="5212080"/>
            <a:ext cx="487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기능이 불필요해서가 아니라, 핵심 가치에 직접 기여하지 않거나 선행 정책 정의가 필요해서 제외했다.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957255" y="6446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감사합니다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566160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오피스 시설 민원 처리 서비스   ·   판교캠퍼스 9반 P293 오승민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오피스 시설 민원 처리 서비스 설계</dc:title>
  <dc:subject>PptxGenJS Presentation</dc:subject>
  <dc:creator>오승민</dc:creator>
  <cp:lastModifiedBy>오승민</cp:lastModifiedBy>
  <cp:revision>1</cp:revision>
  <dcterms:created xsi:type="dcterms:W3CDTF">2026-09-16T00:22:12Z</dcterms:created>
  <dcterms:modified xsi:type="dcterms:W3CDTF">2026-09-16T00:22:12Z</dcterms:modified>
</cp:coreProperties>
</file>