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</p:sldIdLst>
  <p:notesMasterIdLst>
    <p:notesMasterId r:id="rId3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notesMaster" Target="notesMasters/notesMaster1.xml"/><Relationship Id="rId38" Type="http://schemas.openxmlformats.org/officeDocument/2006/relationships/presProps" Target="presProps.xml"/><Relationship Id="rId39" Type="http://schemas.openxmlformats.org/officeDocument/2006/relationships/viewProps" Target="viewProps.xml"/><Relationship Id="rId40" Type="http://schemas.openxmlformats.org/officeDocument/2006/relationships/theme" Target="theme/theme1.xml"/><Relationship Id="rId4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image" Target="../media/image-29-3.png"/><Relationship Id="rId4" Type="http://schemas.openxmlformats.org/officeDocument/2006/relationships/image" Target="../media/image-2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image" Target="../media/image-33-3.png"/><Relationship Id="rId4" Type="http://schemas.openxmlformats.org/officeDocument/2006/relationships/image" Target="../media/image-3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C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1965960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FA6E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웹 서비스 설계 Mini-project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23317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오피스 시설 민원 처리 서비스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3200400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B9C6E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모바일 우선 반응형 웹  ·  접수 · 상태 공유 · 이력 축적을 기록 기반으로 전환한다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77240" y="3794760"/>
            <a:ext cx="1005840" cy="32004"/>
          </a:xfrm>
          <a:prstGeom prst="rect">
            <a:avLst/>
          </a:prstGeom>
          <a:solidFill>
            <a:srgbClr val="3E5AA8"/>
          </a:solidFill>
          <a:ln w="12700">
            <a:solidFill>
              <a:srgbClr val="3E5AA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4069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판교캠퍼스 9반 P293  오승민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437083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A6E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2026.09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9144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5BE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CONTENTS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12064"/>
            <a:ext cx="1118585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목차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417320"/>
            <a:ext cx="5410048" cy="1051560"/>
          </a:xfrm>
          <a:prstGeom prst="roundRect">
            <a:avLst>
              <a:gd name="adj" fmla="val 5217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58952" y="161848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F5BE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01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1527048" y="1636776"/>
            <a:ext cx="41298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기획 배경과 현황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527048" y="1984248"/>
            <a:ext cx="4129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대상 환경 · Pain Points · 원인 분석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278728" y="1417320"/>
            <a:ext cx="5410048" cy="1051560"/>
          </a:xfrm>
          <a:prstGeom prst="roundRect">
            <a:avLst>
              <a:gd name="adj" fmla="val 5217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34760" y="161848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F5BE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02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7302856" y="1636776"/>
            <a:ext cx="41298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서비스 정의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7302856" y="1984248"/>
            <a:ext cx="4129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액터 · 핵심 가치 · 업무 배정 모델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02920" y="2761488"/>
            <a:ext cx="5410048" cy="1051560"/>
          </a:xfrm>
          <a:prstGeom prst="roundRect">
            <a:avLst>
              <a:gd name="adj" fmla="val 5217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58952" y="2962656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F5BE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03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1527048" y="2980944"/>
            <a:ext cx="41298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UI 흐름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527048" y="3328416"/>
            <a:ext cx="4129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전체 흐름도 · 화면별 API·DB 연결 17종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278728" y="2761488"/>
            <a:ext cx="5410048" cy="1051560"/>
          </a:xfrm>
          <a:prstGeom prst="roundRect">
            <a:avLst>
              <a:gd name="adj" fmla="val 5217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534760" y="2962656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F5BE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04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7302856" y="2980944"/>
            <a:ext cx="41298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데이터 모델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7302856" y="3328416"/>
            <a:ext cx="4129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ERD 6테이블 · 정규화 판단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02920" y="4105656"/>
            <a:ext cx="5410048" cy="1051560"/>
          </a:xfrm>
          <a:prstGeom prst="roundRect">
            <a:avLst>
              <a:gd name="adj" fmla="val 5217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58952" y="4306824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F5BE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05</a:t>
            </a:r>
            <a:endParaRPr lang="en-US" sz="2200" dirty="0"/>
          </a:p>
        </p:txBody>
      </p:sp>
      <p:sp>
        <p:nvSpPr>
          <p:cNvPr id="22" name="Text 20"/>
          <p:cNvSpPr txBox="1"/>
          <p:nvPr/>
        </p:nvSpPr>
        <p:spPr>
          <a:xfrm>
            <a:off x="1527048" y="4325112"/>
            <a:ext cx="41298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API 설계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1527048" y="4672584"/>
            <a:ext cx="4129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설계 규칙 · 엔드포인트 19종 · 오류 체계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278728" y="4105656"/>
            <a:ext cx="5410048" cy="1051560"/>
          </a:xfrm>
          <a:prstGeom prst="roundRect">
            <a:avLst>
              <a:gd name="adj" fmla="val 5217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534760" y="4306824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F5BE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06</a:t>
            </a:r>
            <a:endParaRPr lang="en-US" sz="2200" dirty="0"/>
          </a:p>
        </p:txBody>
      </p:sp>
      <p:sp>
        <p:nvSpPr>
          <p:cNvPr id="26" name="Text 24"/>
          <p:cNvSpPr txBox="1"/>
          <p:nvPr/>
        </p:nvSpPr>
        <p:spPr>
          <a:xfrm>
            <a:off x="7302856" y="4325112"/>
            <a:ext cx="41298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고려사항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7302856" y="4672584"/>
            <a:ext cx="4129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해결한 이슈 · 남은 과제 · 2차 범위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502920" y="64465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오피스 시설 민원 처리 서비스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10957255" y="6446520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9144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5BE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01 기획 배경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12064"/>
            <a:ext cx="1118585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대상 환경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932688"/>
            <a:ext cx="111858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판교 소재 오피스 빌딩 B동을 가상 시나리오로 설정한다.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417320"/>
            <a:ext cx="2549576" cy="1371600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40664" y="1627632"/>
            <a:ext cx="20923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F5BE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8개 층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740664" y="2139696"/>
            <a:ext cx="20923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지상 8층 단일 건물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381680" y="1417320"/>
            <a:ext cx="2549576" cy="1371600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619424" y="1627632"/>
            <a:ext cx="20923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F5BE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약 500명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3619424" y="2139696"/>
            <a:ext cx="20923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주간 상주 인원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60440" y="1417320"/>
            <a:ext cx="2549576" cy="1371600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98184" y="1627632"/>
            <a:ext cx="20923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F5BE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6개 카테고리</a:t>
            </a:r>
            <a:endParaRPr lang="en-US" sz="2400" dirty="0"/>
          </a:p>
        </p:txBody>
      </p:sp>
      <p:sp>
        <p:nvSpPr>
          <p:cNvPr id="13" name="Text 11"/>
          <p:cNvSpPr txBox="1"/>
          <p:nvPr/>
        </p:nvSpPr>
        <p:spPr>
          <a:xfrm>
            <a:off x="6498184" y="2139696"/>
            <a:ext cx="20923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전기·급배수·공조·승강기·보안·비품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9139199" y="1417320"/>
            <a:ext cx="2549576" cy="1371600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376943" y="1627632"/>
            <a:ext cx="20923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F5BE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일 15~20건</a:t>
            </a:r>
            <a:endParaRPr lang="en-US" sz="2400" dirty="0"/>
          </a:p>
        </p:txBody>
      </p:sp>
      <p:sp>
        <p:nvSpPr>
          <p:cNvPr id="16" name="Text 14"/>
          <p:cNvSpPr txBox="1"/>
          <p:nvPr/>
        </p:nvSpPr>
        <p:spPr>
          <a:xfrm>
            <a:off x="9376943" y="2139696"/>
            <a:ext cx="20923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주간 근무시간 기준 민원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02920" y="3063240"/>
            <a:ext cx="11185855" cy="1234440"/>
          </a:xfrm>
          <a:prstGeom prst="roundRect">
            <a:avLst>
              <a:gd name="adj" fmla="val 4444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77240" y="3255264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운영 인력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777240" y="3547872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15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시설물 관리 소장 1명 · 시설물 작업자 5명 (전기 1 · 급배수·위생 2 · 공조 1 · 다목적 1)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3840480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작업자 5명이 8개 층·6개 카테고리를 커버하는 동안 접수 창구는 관리실 한 곳뿐이다.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502920" y="4617720"/>
            <a:ext cx="11185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7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접수는 전화와 대면, 기록은 수기 대장과 담당자의 기억에 의존한다.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502920" y="5010912"/>
            <a:ext cx="111858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접수 · 상태 공유 · 이력 축적 세 지점이 모두 특정 개인의 가용성에 묶여 있다.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502920" y="64465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오피스 시설 민원 처리 서비스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10957255" y="6446520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9144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5BE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01 기획 배경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12064"/>
            <a:ext cx="1118585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Pain Points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932688"/>
            <a:ext cx="111858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액터별로 현재 운영에서 실제로 실패하는 지점을 정리했다.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371600"/>
            <a:ext cx="3521354" cy="4160520"/>
          </a:xfrm>
          <a:prstGeom prst="roundRect">
            <a:avLst>
              <a:gd name="adj" fmla="val 155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40664" y="1572768"/>
            <a:ext cx="306415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A5B0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시설물 관리 소장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04088" y="2057400"/>
            <a:ext cx="3119018" cy="1371600"/>
          </a:xfrm>
          <a:prstGeom prst="roundRect">
            <a:avLst>
              <a:gd name="adj" fmla="val 4000"/>
            </a:avLst>
          </a:prstGeom>
          <a:solidFill>
            <a:srgbClr val="FDF4E3"/>
          </a:solidFill>
          <a:ln w="12700">
            <a:solidFill>
              <a:srgbClr val="FDF4E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86968" y="222199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A5B0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AS-01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886968" y="2514600"/>
            <a:ext cx="275325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정기 정비를 요청할 때 근거를 수기 대장이나 기억에 의존해 수치를 제시할 수 없다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04088" y="3657600"/>
            <a:ext cx="3119018" cy="1371600"/>
          </a:xfrm>
          <a:prstGeom prst="roundRect">
            <a:avLst>
              <a:gd name="adj" fmla="val 4000"/>
            </a:avLst>
          </a:prstGeom>
          <a:solidFill>
            <a:srgbClr val="FDF4E3"/>
          </a:solidFill>
          <a:ln w="12700">
            <a:solidFill>
              <a:srgbClr val="FDF4E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86968" y="382219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A5B0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AS-02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886968" y="4114800"/>
            <a:ext cx="275325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어떤 작업자가 어떤 업무를 보유 중인지 몰라 긴급 건을 누구에게 맡길지 판단할 수 없다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335170" y="1371600"/>
            <a:ext cx="3521354" cy="4160520"/>
          </a:xfrm>
          <a:prstGeom prst="roundRect">
            <a:avLst>
              <a:gd name="adj" fmla="val 155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572914" y="1572768"/>
            <a:ext cx="306415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803D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시설물 작업자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4536338" y="2057400"/>
            <a:ext cx="3119018" cy="1371600"/>
          </a:xfrm>
          <a:prstGeom prst="roundRect">
            <a:avLst>
              <a:gd name="adj" fmla="val 4000"/>
            </a:avLst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719218" y="222199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5803D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AS-03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4719218" y="2514600"/>
            <a:ext cx="275325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다음 업무를 즉시 알 수 없어 관리실에 전화하거나 직접 현장에 가야 한다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4536338" y="3657600"/>
            <a:ext cx="3119018" cy="1371600"/>
          </a:xfrm>
          <a:prstGeom prst="roundRect">
            <a:avLst>
              <a:gd name="adj" fmla="val 4000"/>
            </a:avLst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719218" y="382219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5803D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AS-04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4719218" y="4114800"/>
            <a:ext cx="275325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중복 접수된 건이 여러 번 배정되어 이미 처리한 곳으로 재출동한다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8167421" y="1371600"/>
            <a:ext cx="3521354" cy="4160520"/>
          </a:xfrm>
          <a:prstGeom prst="roundRect">
            <a:avLst>
              <a:gd name="adj" fmla="val 155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405165" y="1572768"/>
            <a:ext cx="306415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F5BE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건물 사용자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8368589" y="2057400"/>
            <a:ext cx="3119018" cy="1371600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551469" y="222199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F5BE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AS-05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8551469" y="2514600"/>
            <a:ext cx="275325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어디로 신고할지 몰라 지나가는 작업자를 붙잡고 구두로 이야기한다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8368589" y="3657600"/>
            <a:ext cx="3119018" cy="1371600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551469" y="382219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F5BE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AS-06</a:t>
            </a:r>
            <a:endParaRPr lang="en-US" sz="1150" dirty="0"/>
          </a:p>
        </p:txBody>
      </p:sp>
      <p:sp>
        <p:nvSpPr>
          <p:cNvPr id="28" name="Text 26"/>
          <p:cNvSpPr txBox="1"/>
          <p:nvPr/>
        </p:nvSpPr>
        <p:spPr>
          <a:xfrm>
            <a:off x="8551469" y="4114800"/>
            <a:ext cx="275325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전화번호를 알더라도 응대자가 부재중이면 접수 자체가 이루어지지 않는다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502920" y="64465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오피스 시설 민원 처리 서비스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10957255" y="6446520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9144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5BE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01 기획 배경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12064"/>
            <a:ext cx="1118585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원인 분석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932688"/>
            <a:ext cx="111858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수기와 기억에 의존하는 운영 방식은 세 층위에서 문제를 만든다.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417320"/>
            <a:ext cx="11185855" cy="1298448"/>
          </a:xfrm>
          <a:prstGeom prst="roundRect">
            <a:avLst>
              <a:gd name="adj" fmla="val 4225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58952" y="1709928"/>
            <a:ext cx="713232" cy="713232"/>
          </a:xfrm>
          <a:prstGeom prst="roundRect">
            <a:avLst>
              <a:gd name="adj" fmla="val 25641"/>
            </a:avLst>
          </a:prstGeom>
          <a:solidFill>
            <a:srgbClr val="2F5BEA"/>
          </a:solidFill>
          <a:ln w="12700">
            <a:solidFill>
              <a:srgbClr val="2F5BE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58952" y="1892808"/>
            <a:ext cx="7132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C-1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673352" y="1673352"/>
            <a:ext cx="7223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접수 채널이 사람에 의존한다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673352" y="2039112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전화·대면이 유일한 창구이므로 응대자의 부재가 곧 접수 실패로 이어진다.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9311335" y="167335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AS-05 · AS-06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02920" y="2898648"/>
            <a:ext cx="11185855" cy="1298448"/>
          </a:xfrm>
          <a:prstGeom prst="roundRect">
            <a:avLst>
              <a:gd name="adj" fmla="val 4225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58952" y="3191256"/>
            <a:ext cx="713232" cy="713232"/>
          </a:xfrm>
          <a:prstGeom prst="roundRect">
            <a:avLst>
              <a:gd name="adj" fmla="val 25641"/>
            </a:avLst>
          </a:prstGeom>
          <a:solidFill>
            <a:srgbClr val="2F5BEA"/>
          </a:solidFill>
          <a:ln w="12700">
            <a:solidFill>
              <a:srgbClr val="2F5BE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58952" y="3374136"/>
            <a:ext cx="7132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C-2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673352" y="3154680"/>
            <a:ext cx="7223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처리 상태가 기록되지 않아 공유되지 않는다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673352" y="35204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현재 상태가 특정 개인의 기억에만 존재해 다른 구성원이 조회할 수 없고 중복도 걸러낼 수 없다.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9311335" y="315468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AS-02 · AS-03 · AS-04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02920" y="4379976"/>
            <a:ext cx="11185855" cy="1298448"/>
          </a:xfrm>
          <a:prstGeom prst="roundRect">
            <a:avLst>
              <a:gd name="adj" fmla="val 4225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58952" y="4672584"/>
            <a:ext cx="713232" cy="713232"/>
          </a:xfrm>
          <a:prstGeom prst="roundRect">
            <a:avLst>
              <a:gd name="adj" fmla="val 25641"/>
            </a:avLst>
          </a:prstGeom>
          <a:solidFill>
            <a:srgbClr val="2F5BEA"/>
          </a:solidFill>
          <a:ln w="12700">
            <a:solidFill>
              <a:srgbClr val="2F5BEA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58952" y="4855464"/>
            <a:ext cx="7132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C-3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1673352" y="4636008"/>
            <a:ext cx="7223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처리 이력이 축적되지 않아 집계할 수 없다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673352" y="5001768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완료된 건이 구조화된 형태로 남지 않아 설비별 고장 빈도에 근거한 의사결정이 불가능하다.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9311335" y="463600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AS-01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502920" y="64465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오피스 시설 민원 처리 서비스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10957255" y="6446520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9144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5BE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02 서비스 정의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12064"/>
            <a:ext cx="1118585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액터와 권한 경계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932688"/>
            <a:ext cx="111858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건물 사용자는 인증하지 않는다. 가입 절차가 그 자체로 접수 장벽이 되기 때문이다.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371600"/>
            <a:ext cx="3521354" cy="4114800"/>
          </a:xfrm>
          <a:prstGeom prst="roundRect">
            <a:avLst>
              <a:gd name="adj" fmla="val 155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0664" y="1609344"/>
            <a:ext cx="1371600" cy="384048"/>
          </a:xfrm>
          <a:prstGeom prst="roundRect">
            <a:avLst>
              <a:gd name="adj" fmla="val 23810"/>
            </a:avLst>
          </a:prstGeom>
          <a:solidFill>
            <a:srgbClr val="2F5BEA"/>
          </a:solidFill>
          <a:ln w="12700">
            <a:solidFill>
              <a:srgbClr val="2F5BE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40664" y="169164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USER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740664" y="2139696"/>
            <a:ext cx="306415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건물 사용자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40664" y="2487168"/>
            <a:ext cx="30641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약 500명  ·  비인증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2926080"/>
            <a:ext cx="297271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민원 등록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민원 조회 (공개)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본인 민원 수정·취소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335170" y="1371600"/>
            <a:ext cx="3521354" cy="4114800"/>
          </a:xfrm>
          <a:prstGeom prst="roundRect">
            <a:avLst>
              <a:gd name="adj" fmla="val 155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914" y="1609344"/>
            <a:ext cx="1371600" cy="384048"/>
          </a:xfrm>
          <a:prstGeom prst="roundRect">
            <a:avLst>
              <a:gd name="adj" fmla="val 23810"/>
            </a:avLst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914" y="169164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WORKER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4572914" y="2139696"/>
            <a:ext cx="306415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시설물 작업자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572914" y="2487168"/>
            <a:ext cx="30641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5명  ·  사번 로그인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4609490" y="2926080"/>
            <a:ext cx="297271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미배정 민원 선점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처리 결과 등록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민원 반납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8167421" y="1371600"/>
            <a:ext cx="3521354" cy="4114800"/>
          </a:xfrm>
          <a:prstGeom prst="roundRect">
            <a:avLst>
              <a:gd name="adj" fmla="val 155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405165" y="1609344"/>
            <a:ext cx="1371600" cy="384048"/>
          </a:xfrm>
          <a:prstGeom prst="roundRect">
            <a:avLst>
              <a:gd name="adj" fmla="val 23810"/>
            </a:avLst>
          </a:prstGeom>
          <a:solidFill>
            <a:srgbClr val="9A5B08"/>
          </a:solidFill>
          <a:ln w="12700">
            <a:solidFill>
              <a:srgbClr val="9A5B0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405165" y="169164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ADMIN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8405165" y="2139696"/>
            <a:ext cx="306415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시설물 관리 소장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8405165" y="2487168"/>
            <a:ext cx="30641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1명  ·  사번 로그인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8441741" y="2926080"/>
            <a:ext cx="297271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전체 현황·통계 조회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강제 배정·재배정·회수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분류 정보 수정 · 반려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502920" y="64465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오피스 시설 민원 처리 서비스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10957255" y="6446520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9144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5BE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02 서비스 정의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12064"/>
            <a:ext cx="1118585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핵심 가치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280160"/>
            <a:ext cx="111858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F17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사람의 가용성에 묶여 있던 시설 민원 처리 과정을 기록 기반으로 전환한다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02920" y="2057400"/>
            <a:ext cx="3521354" cy="1965960"/>
          </a:xfrm>
          <a:prstGeom prst="roundRect">
            <a:avLst>
              <a:gd name="adj" fmla="val 2791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2304288"/>
            <a:ext cx="297271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F5BE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접수 누락 방지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761488"/>
            <a:ext cx="297271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응대자의 부재와 무관하게 접수된다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529584"/>
            <a:ext cx="297271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AS-05 · AS-06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335170" y="2057400"/>
            <a:ext cx="3521354" cy="1965960"/>
          </a:xfrm>
          <a:prstGeom prst="roundRect">
            <a:avLst>
              <a:gd name="adj" fmla="val 2791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609490" y="2304288"/>
            <a:ext cx="297271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F5BE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상태 공유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4609490" y="2761488"/>
            <a:ext cx="297271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처리 상태가 관계자 모두에게 동일하게 보인다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4609490" y="3529584"/>
            <a:ext cx="297271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AS-02 · AS-03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167421" y="2057400"/>
            <a:ext cx="3521354" cy="1965960"/>
          </a:xfrm>
          <a:prstGeom prst="roundRect">
            <a:avLst>
              <a:gd name="adj" fmla="val 2791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441741" y="2304288"/>
            <a:ext cx="297271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F5BE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이력 축적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8441741" y="2761488"/>
            <a:ext cx="297271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완료된 건이 남아 다음 의사결정의 근거가 된다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8441741" y="3529584"/>
            <a:ext cx="297271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AS-01 · AS-04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02920" y="4315968"/>
            <a:ext cx="11185855" cy="1005840"/>
          </a:xfrm>
          <a:prstGeom prst="roundRect">
            <a:avLst>
              <a:gd name="adj" fmla="val 5455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77240" y="449884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기능 채택 기준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777240" y="4791456"/>
            <a:ext cx="106372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15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"이 기능이 접수 누락 방지 · 상태 공유 · 이력 축적 중 무엇에 기여하는가" — 답하지 못하는 기능은 2차 범위로 미뤘다.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502920" y="64465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오피스 시설 민원 처리 서비스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10957255" y="6446520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9144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5BE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02 서비스 정의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12064"/>
            <a:ext cx="1118585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업무 배정 모델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932688"/>
            <a:ext cx="111858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선점(Pull)을 기본으로 하고, 관리소장의 강제 배정을 예외 경로로 둔다.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371600"/>
            <a:ext cx="5410048" cy="2148840"/>
          </a:xfrm>
          <a:prstGeom prst="roundRect">
            <a:avLst>
              <a:gd name="adj" fmla="val 2553"/>
            </a:avLst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591056"/>
            <a:ext cx="48614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803D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기본 경로 — 작업자 선점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011680"/>
            <a:ext cx="48614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접수된 민원은 미배정 상태로 공용 목록에 노출되고 작업자가 직접 가져간다.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688336"/>
            <a:ext cx="48614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AS-02의 "누구에게 배정할지 판단해야 하는 부담" 자체를 제거한다.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278728" y="1371600"/>
            <a:ext cx="5410048" cy="2148840"/>
          </a:xfrm>
          <a:prstGeom prst="roundRect">
            <a:avLst>
              <a:gd name="adj" fmla="val 2553"/>
            </a:avLst>
          </a:prstGeom>
          <a:solidFill>
            <a:srgbClr val="FDF4E3"/>
          </a:solidFill>
          <a:ln w="12700">
            <a:solidFill>
              <a:srgbClr val="FDF4E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53048" y="1591056"/>
            <a:ext cx="48614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A5B0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예외 경로 — 관리소장 강제 배정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6553048" y="2011680"/>
            <a:ext cx="48614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임계 시간을 넘겨 아무도 선점하지 않은 건이나 긴급 건을 직접 배정한다.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553048" y="2688336"/>
            <a:ext cx="48614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성립하려면 작업자별 보유 현황이 화면에 있어야 한다. (A-01 필수 요소)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02920" y="3749040"/>
            <a:ext cx="11185855" cy="1737360"/>
          </a:xfrm>
          <a:prstGeom prst="roundRect">
            <a:avLst>
              <a:gd name="adj" fmla="val 315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77240" y="395020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선점 및 배정 정책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42976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F5BE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P-01  선점 자격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2788920" y="4297680"/>
            <a:ext cx="853409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담당 카테고리가 아니어도 선점할 수 있다. 경고만 표시한다. 신고자가 오분류한 민원이 정정 전까지 방치되는 것을 막기 위함.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484632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F5BE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P-02  지연 판정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2788920" y="4846320"/>
            <a:ext cx="853409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미배정 대기 시간이 임계값을 넘으면 지연으로 표시한다. 긴급 1시간 / 보통 6시간 / 낮음 24시간.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502920" y="64465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오피스 시설 민원 처리 서비스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10957255" y="6446520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9144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5BE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02 서비스 정의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12064"/>
            <a:ext cx="1118585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민원 상태 전이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932688"/>
            <a:ext cx="111858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모든 전이는 변경 주체·시각과 함께 complaint_history 에 기록된다.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783080" y="2240280"/>
            <a:ext cx="1828800" cy="786384"/>
          </a:xfrm>
          <a:prstGeom prst="roundRect">
            <a:avLst>
              <a:gd name="adj" fmla="val 11628"/>
            </a:avLst>
          </a:prstGeom>
          <a:solidFill>
            <a:srgbClr val="EEF2FF"/>
          </a:solidFill>
          <a:ln w="15875">
            <a:solidFill>
              <a:srgbClr val="2F5BE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783080" y="2359152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5BE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접수됨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783080" y="2670048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RECEIVED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937760" y="2240280"/>
            <a:ext cx="1828800" cy="786384"/>
          </a:xfrm>
          <a:prstGeom prst="roundRect">
            <a:avLst>
              <a:gd name="adj" fmla="val 11628"/>
            </a:avLst>
          </a:prstGeom>
          <a:solidFill>
            <a:srgbClr val="FDF4E3"/>
          </a:solidFill>
          <a:ln w="15875">
            <a:solidFill>
              <a:srgbClr val="9A5B0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937760" y="2359152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9A5B0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처리중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937760" y="2670048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IN_PROGRESS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8092440" y="2240280"/>
            <a:ext cx="1828800" cy="786384"/>
          </a:xfrm>
          <a:prstGeom prst="roundRect">
            <a:avLst>
              <a:gd name="adj" fmla="val 11628"/>
            </a:avLst>
          </a:prstGeom>
          <a:solidFill>
            <a:srgbClr val="E9F7EE"/>
          </a:solidFill>
          <a:ln w="15875">
            <a:solidFill>
              <a:srgbClr val="15803D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092440" y="2359152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803D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처리완료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8092440" y="2670048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COMPLETED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1783080" y="4526280"/>
            <a:ext cx="1828800" cy="786384"/>
          </a:xfrm>
          <a:prstGeom prst="roundRect">
            <a:avLst>
              <a:gd name="adj" fmla="val 11628"/>
            </a:avLst>
          </a:prstGeom>
          <a:solidFill>
            <a:srgbClr val="F4F6F9"/>
          </a:solidFill>
          <a:ln w="15875">
            <a:solidFill>
              <a:srgbClr val="64748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783080" y="4645152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취소됨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1783080" y="4956048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CANCELED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937760" y="4526280"/>
            <a:ext cx="1828800" cy="786384"/>
          </a:xfrm>
          <a:prstGeom prst="roundRect">
            <a:avLst>
              <a:gd name="adj" fmla="val 11628"/>
            </a:avLst>
          </a:prstGeom>
          <a:solidFill>
            <a:srgbClr val="F4F6F9"/>
          </a:solidFill>
          <a:ln w="15875">
            <a:solidFill>
              <a:srgbClr val="64748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937760" y="4645152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반려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4937760" y="4956048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REJECTED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1170432" y="2551176"/>
            <a:ext cx="164592" cy="164592"/>
          </a:xfrm>
          <a:prstGeom prst="ellipse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335024" y="2633472"/>
            <a:ext cx="411480" cy="0"/>
          </a:xfrm>
          <a:prstGeom prst="line">
            <a:avLst/>
          </a:prstGeom>
          <a:noFill/>
          <a:ln w="1587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10241280" y="2514600"/>
            <a:ext cx="237744" cy="23774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748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0305288" y="2578608"/>
            <a:ext cx="109728" cy="109728"/>
          </a:xfrm>
          <a:prstGeom prst="ellipse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921240" y="2633472"/>
            <a:ext cx="292608" cy="0"/>
          </a:xfrm>
          <a:prstGeom prst="line">
            <a:avLst/>
          </a:prstGeom>
          <a:noFill/>
          <a:ln w="1587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3611880" y="2450592"/>
            <a:ext cx="1325880" cy="0"/>
          </a:xfrm>
          <a:prstGeom prst="line">
            <a:avLst/>
          </a:prstGeom>
          <a:noFill/>
          <a:ln w="1587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3502152" y="2048256"/>
            <a:ext cx="1545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선점 / 강제 배정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3502152" y="2249424"/>
            <a:ext cx="1545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WORKER · ADMIN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3611880" y="2889504"/>
            <a:ext cx="1325880" cy="0"/>
          </a:xfrm>
          <a:prstGeom prst="line">
            <a:avLst/>
          </a:prstGeom>
          <a:noFill/>
          <a:ln w="15875">
            <a:solidFill>
              <a:srgbClr val="64748B"/>
            </a:solidFill>
            <a:prstDash val="solid"/>
            <a:headEnd type="triangle"/>
          </a:ln>
        </p:spPr>
      </p:sp>
      <p:sp>
        <p:nvSpPr>
          <p:cNvPr id="29" name="Text 27"/>
          <p:cNvSpPr txBox="1"/>
          <p:nvPr/>
        </p:nvSpPr>
        <p:spPr>
          <a:xfrm>
            <a:off x="3502152" y="2953512"/>
            <a:ext cx="1545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반납 / 회수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3502152" y="3154680"/>
            <a:ext cx="1545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WORKER · ADMIN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6766560" y="2633472"/>
            <a:ext cx="1325880" cy="0"/>
          </a:xfrm>
          <a:prstGeom prst="line">
            <a:avLst/>
          </a:prstGeom>
          <a:noFill/>
          <a:ln w="1587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32" name="Text 30"/>
          <p:cNvSpPr txBox="1"/>
          <p:nvPr/>
        </p:nvSpPr>
        <p:spPr>
          <a:xfrm>
            <a:off x="6656832" y="2231136"/>
            <a:ext cx="1545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처리 결과 등록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6656832" y="2432304"/>
            <a:ext cx="1545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WORKER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2697480" y="3026664"/>
            <a:ext cx="0" cy="1499616"/>
          </a:xfrm>
          <a:prstGeom prst="line">
            <a:avLst/>
          </a:prstGeom>
          <a:noFill/>
          <a:ln w="1587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35" name="Text 33"/>
          <p:cNvSpPr txBox="1"/>
          <p:nvPr/>
        </p:nvSpPr>
        <p:spPr>
          <a:xfrm>
            <a:off x="2807208" y="3575304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취소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2807208" y="3794760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USER · 비밀번호 확인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5852160" y="3026664"/>
            <a:ext cx="0" cy="1499616"/>
          </a:xfrm>
          <a:prstGeom prst="line">
            <a:avLst/>
          </a:prstGeom>
          <a:noFill/>
          <a:ln w="1587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38" name="Text 36"/>
          <p:cNvSpPr txBox="1"/>
          <p:nvPr/>
        </p:nvSpPr>
        <p:spPr>
          <a:xfrm>
            <a:off x="5961888" y="3575304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반려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5961888" y="3794760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ADMIN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8092440" y="4206240"/>
            <a:ext cx="3611880" cy="1417320"/>
          </a:xfrm>
          <a:prstGeom prst="roundRect">
            <a:avLst>
              <a:gd name="adj" fmla="val 3871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8321040" y="438912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설계 판단</a:t>
            </a:r>
            <a:endParaRPr lang="en-US" sz="1250" dirty="0"/>
          </a:p>
        </p:txBody>
      </p:sp>
      <p:sp>
        <p:nvSpPr>
          <p:cNvPr id="42" name="Text 40"/>
          <p:cNvSpPr txBox="1"/>
          <p:nvPr/>
        </p:nvSpPr>
        <p:spPr>
          <a:xfrm>
            <a:off x="8321040" y="4663440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담당자 확정(ASSIGNED)과 조치 착수를 하나로 통합했다. 선점 행위가 곧 처리 시작이므로 나누면 실익 없는 조작만 늘어난다. 신고자의 완료 확인 단계도 두지 않는다.</a:t>
            </a:r>
            <a:endParaRPr lang="en-US" sz="1050" dirty="0"/>
          </a:p>
        </p:txBody>
      </p:sp>
      <p:sp>
        <p:nvSpPr>
          <p:cNvPr id="43" name="Text 41"/>
          <p:cNvSpPr txBox="1"/>
          <p:nvPr/>
        </p:nvSpPr>
        <p:spPr>
          <a:xfrm>
            <a:off x="502920" y="64465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오피스 시설 민원 처리 서비스</a:t>
            </a:r>
            <a:endParaRPr lang="en-US" sz="900" dirty="0"/>
          </a:p>
        </p:txBody>
      </p:sp>
      <p:sp>
        <p:nvSpPr>
          <p:cNvPr id="44" name="Text 42"/>
          <p:cNvSpPr txBox="1"/>
          <p:nvPr/>
        </p:nvSpPr>
        <p:spPr>
          <a:xfrm>
            <a:off x="10957255" y="6446520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9144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5BE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02 서비스 정의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12064"/>
            <a:ext cx="1118585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화면 정책 — 모바일 우선 반응형 웹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932688"/>
            <a:ext cx="111858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액터마다 사용 기기가 다르다. 하나의 코드가 뷰포트에 따라 레이아웃을 바꾼다.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371600"/>
            <a:ext cx="4846320" cy="822960"/>
          </a:xfrm>
          <a:prstGeom prst="roundRect">
            <a:avLst>
              <a:gd name="adj" fmla="val 6667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22376" y="1517904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F5BE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USER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722376" y="1792224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건물 사용자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2240280" y="16459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현장에서 즉시 신고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4343400" y="164592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2F5BE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모바일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02920" y="2304288"/>
            <a:ext cx="4846320" cy="822960"/>
          </a:xfrm>
          <a:prstGeom prst="roundRect">
            <a:avLst>
              <a:gd name="adj" fmla="val 6667"/>
            </a:avLst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22376" y="245059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5803D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WORKER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722376" y="2724912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시설물 작업자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2240280" y="257860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층을 이동하며 확인·처리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4343400" y="2578608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5803D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모바일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02920" y="3236976"/>
            <a:ext cx="4846320" cy="822960"/>
          </a:xfrm>
          <a:prstGeom prst="roundRect">
            <a:avLst>
              <a:gd name="adj" fmla="val 6667"/>
            </a:avLst>
          </a:prstGeom>
          <a:solidFill>
            <a:srgbClr val="FDF4E3"/>
          </a:solidFill>
          <a:ln w="12700">
            <a:solidFill>
              <a:srgbClr val="FDF4E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22376" y="3383280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A5B0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ADMIN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722376" y="365760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시설물 관리 소장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2240280" y="3511296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관리실 PC에서 전체 관리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4343400" y="3511296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9A5B0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데스크톱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02920" y="4261104"/>
            <a:ext cx="4846320" cy="1517904"/>
          </a:xfrm>
          <a:prstGeom prst="roundRect">
            <a:avLst>
              <a:gd name="adj" fmla="val 3614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22376" y="442569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뷰포트 전환 규칙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2377440" y="4700016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~ 767px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3840480" y="4700016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F5BE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768px ~</a:t>
            </a:r>
            <a:endParaRPr lang="en-US" sz="950" dirty="0"/>
          </a:p>
        </p:txBody>
      </p:sp>
      <p:sp>
        <p:nvSpPr>
          <p:cNvPr id="24" name="Text 22"/>
          <p:cNvSpPr txBox="1"/>
          <p:nvPr/>
        </p:nvSpPr>
        <p:spPr>
          <a:xfrm>
            <a:off x="722376" y="4937760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3415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내비게이션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2377440" y="4937760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하단 고정 탭바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3840480" y="4937760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F5BE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상단 내비게이션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722376" y="5202936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3415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목록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2377440" y="5202936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1열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3840480" y="5202936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F5BE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다열 그리드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722376" y="5468112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3415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폼 · 상세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2377440" y="5468112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전체 폭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3840480" y="5468112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F5BE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640px 중앙 정렬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5715000" y="1371600"/>
            <a:ext cx="5943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데스크톱  1440px</a:t>
            </a:r>
            <a:endParaRPr lang="en-US" sz="1000" dirty="0"/>
          </a:p>
        </p:txBody>
      </p:sp>
      <p:pic>
        <p:nvPicPr>
          <p:cNvPr id="34" name="Image 0" descr="/Users/smoh/my-workspace/WebMiniProject/docs/img/rwd/rwd-user-deskt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15000" y="1627632"/>
            <a:ext cx="5943600" cy="2616835"/>
          </a:xfrm>
          <a:prstGeom prst="rect">
            <a:avLst/>
          </a:prstGeom>
        </p:spPr>
      </p:pic>
      <p:sp>
        <p:nvSpPr>
          <p:cNvPr id="35" name="Text 32"/>
          <p:cNvSpPr txBox="1"/>
          <p:nvPr/>
        </p:nvSpPr>
        <p:spPr>
          <a:xfrm>
            <a:off x="5715000" y="4299331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모바일  390px</a:t>
            </a:r>
            <a:endParaRPr lang="en-US" sz="1000" dirty="0"/>
          </a:p>
        </p:txBody>
      </p:sp>
      <p:pic>
        <p:nvPicPr>
          <p:cNvPr id="36" name="Image 1" descr="/Users/smoh/my-workspace/WebMiniProject/docs/img/rwd/rwd-user-mobi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0" y="4555363"/>
            <a:ext cx="565764" cy="1223645"/>
          </a:xfrm>
          <a:prstGeom prst="rect">
            <a:avLst/>
          </a:prstGeom>
        </p:spPr>
      </p:pic>
      <p:sp>
        <p:nvSpPr>
          <p:cNvPr id="37" name="Text 33"/>
          <p:cNvSpPr txBox="1"/>
          <p:nvPr/>
        </p:nvSpPr>
        <p:spPr>
          <a:xfrm>
            <a:off x="6555084" y="4646803"/>
            <a:ext cx="51035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같은 URL · 같은 코드</a:t>
            </a:r>
            <a:endParaRPr lang="en-US" sz="1200" dirty="0"/>
          </a:p>
        </p:txBody>
      </p:sp>
      <p:sp>
        <p:nvSpPr>
          <p:cNvPr id="38" name="Text 34"/>
          <p:cNvSpPr txBox="1"/>
          <p:nvPr/>
        </p:nvSpPr>
        <p:spPr>
          <a:xfrm>
            <a:off x="6555084" y="4939411"/>
            <a:ext cx="510351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브레이크포인트 768px 을 경계로 하단 탭바가 상단 내비게이션으로 바뀌고, 목록이 다열로 흐른다. 별도 앱이나 별도 페이지를 두지 않는다.</a:t>
            </a:r>
            <a:endParaRPr lang="en-US" sz="1050" dirty="0"/>
          </a:p>
        </p:txBody>
      </p:sp>
      <p:sp>
        <p:nvSpPr>
          <p:cNvPr id="39" name="Text 35"/>
          <p:cNvSpPr txBox="1"/>
          <p:nvPr/>
        </p:nvSpPr>
        <p:spPr>
          <a:xfrm>
            <a:off x="502920" y="64465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오피스 시설 민원 처리 서비스</a:t>
            </a:r>
            <a:endParaRPr lang="en-US" sz="900" dirty="0"/>
          </a:p>
        </p:txBody>
      </p:sp>
      <p:sp>
        <p:nvSpPr>
          <p:cNvPr id="40" name="Text 36"/>
          <p:cNvSpPr txBox="1"/>
          <p:nvPr/>
        </p:nvSpPr>
        <p:spPr>
          <a:xfrm>
            <a:off x="10957255" y="6446520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9144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5BE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03 UI 흐름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12064"/>
            <a:ext cx="1118585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전체 UI 흐름도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932688"/>
            <a:ext cx="111858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액터별 진입점과 주 경로. 점선 상자는 모달·오류 상태이며 별도 화면이 아니다.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188720"/>
            <a:ext cx="11185855" cy="1481328"/>
          </a:xfrm>
          <a:prstGeom prst="roundRect">
            <a:avLst>
              <a:gd name="adj" fmla="val 3704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9224" y="1463040"/>
            <a:ext cx="1152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5BE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USER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9224" y="1755648"/>
            <a:ext cx="11521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건물 사용자 · 비인증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847088" y="1481328"/>
            <a:ext cx="137160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D9DEE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847088" y="1545336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F5BE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U-01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1847088" y="173736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사용자 홈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255264" y="1755648"/>
            <a:ext cx="219456" cy="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12" name="Text 10"/>
          <p:cNvSpPr txBox="1"/>
          <p:nvPr/>
        </p:nvSpPr>
        <p:spPr>
          <a:xfrm>
            <a:off x="3145536" y="1444752"/>
            <a:ext cx="512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신고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3511296" y="1481328"/>
            <a:ext cx="137160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D9DEE7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511296" y="1545336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F5BE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U-02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3511296" y="173736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민원 등록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919472" y="1755648"/>
            <a:ext cx="219456" cy="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17" name="Text 15"/>
          <p:cNvSpPr txBox="1"/>
          <p:nvPr/>
        </p:nvSpPr>
        <p:spPr>
          <a:xfrm>
            <a:off x="4809744" y="1444752"/>
            <a:ext cx="512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접수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5175504" y="1481328"/>
            <a:ext cx="137160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D9DE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175504" y="1545336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F5BE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U-03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5175504" y="173736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접수 완료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583680" y="1755648"/>
            <a:ext cx="219456" cy="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22" name="Text 20"/>
          <p:cNvSpPr txBox="1"/>
          <p:nvPr/>
        </p:nvSpPr>
        <p:spPr>
          <a:xfrm>
            <a:off x="6473952" y="1444752"/>
            <a:ext cx="512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상세 보기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839712" y="1481328"/>
            <a:ext cx="137160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D9DEE7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839712" y="1545336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F5BE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U-05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6839712" y="173736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민원 상세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8247888" y="1755648"/>
            <a:ext cx="219456" cy="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27" name="Text 25"/>
          <p:cNvSpPr txBox="1"/>
          <p:nvPr/>
        </p:nvSpPr>
        <p:spPr>
          <a:xfrm>
            <a:off x="8138160" y="1444752"/>
            <a:ext cx="512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수정·취소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8503920" y="1481328"/>
            <a:ext cx="137160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64748B"/>
            </a:solidFill>
            <a:prstDash val="dash"/>
          </a:ln>
        </p:spPr>
      </p:sp>
      <p:sp>
        <p:nvSpPr>
          <p:cNvPr id="29" name="Text 27"/>
          <p:cNvSpPr txBox="1"/>
          <p:nvPr/>
        </p:nvSpPr>
        <p:spPr>
          <a:xfrm>
            <a:off x="8503920" y="1545336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F5BE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U-06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8503920" y="173736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본인 확인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9912096" y="1755648"/>
            <a:ext cx="219456" cy="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32" name="Text 30"/>
          <p:cNvSpPr txBox="1"/>
          <p:nvPr/>
        </p:nvSpPr>
        <p:spPr>
          <a:xfrm>
            <a:off x="9802368" y="1444752"/>
            <a:ext cx="512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확인 통과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10168128" y="1481328"/>
            <a:ext cx="137160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D9DEE7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10168128" y="1545336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F5BE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U-07</a:t>
            </a:r>
            <a:endParaRPr lang="en-US" sz="900" dirty="0"/>
          </a:p>
        </p:txBody>
      </p:sp>
      <p:sp>
        <p:nvSpPr>
          <p:cNvPr id="35" name="Text 33"/>
          <p:cNvSpPr txBox="1"/>
          <p:nvPr/>
        </p:nvSpPr>
        <p:spPr>
          <a:xfrm>
            <a:off x="10168128" y="173736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민원 수정</a:t>
            </a:r>
            <a:endParaRPr lang="en-US" sz="1050" dirty="0"/>
          </a:p>
        </p:txBody>
      </p:sp>
      <p:sp>
        <p:nvSpPr>
          <p:cNvPr id="36" name="Text 34"/>
          <p:cNvSpPr txBox="1"/>
          <p:nvPr/>
        </p:nvSpPr>
        <p:spPr>
          <a:xfrm>
            <a:off x="1847088" y="2139696"/>
            <a:ext cx="9692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조회 경로 :  U-01  →  U-04 민원 조회  →  U-05 민원 상세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502920" y="2862072"/>
            <a:ext cx="11185855" cy="1481328"/>
          </a:xfrm>
          <a:prstGeom prst="roundRect">
            <a:avLst>
              <a:gd name="adj" fmla="val 3704"/>
            </a:avLst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649224" y="3136392"/>
            <a:ext cx="1152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803D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WORKER</a:t>
            </a:r>
            <a:endParaRPr lang="en-US" sz="1300" dirty="0"/>
          </a:p>
        </p:txBody>
      </p:sp>
      <p:sp>
        <p:nvSpPr>
          <p:cNvPr id="39" name="Text 37"/>
          <p:cNvSpPr txBox="1"/>
          <p:nvPr/>
        </p:nvSpPr>
        <p:spPr>
          <a:xfrm>
            <a:off x="649224" y="3429000"/>
            <a:ext cx="11521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시설물 작업자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1847088" y="3154680"/>
            <a:ext cx="137160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D9DEE7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1847088" y="3218688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803D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W-01</a:t>
            </a:r>
            <a:endParaRPr lang="en-US" sz="900" dirty="0"/>
          </a:p>
        </p:txBody>
      </p:sp>
      <p:sp>
        <p:nvSpPr>
          <p:cNvPr id="42" name="Text 40"/>
          <p:cNvSpPr txBox="1"/>
          <p:nvPr/>
        </p:nvSpPr>
        <p:spPr>
          <a:xfrm>
            <a:off x="1847088" y="3410712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직원 로그인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3255264" y="3429000"/>
            <a:ext cx="219456" cy="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44" name="Text 42"/>
          <p:cNvSpPr txBox="1"/>
          <p:nvPr/>
        </p:nvSpPr>
        <p:spPr>
          <a:xfrm>
            <a:off x="3145536" y="3118104"/>
            <a:ext cx="512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로그인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3511296" y="3154680"/>
            <a:ext cx="137160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D9DEE7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3511296" y="3218688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803D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W-02</a:t>
            </a:r>
            <a:endParaRPr lang="en-US" sz="900" dirty="0"/>
          </a:p>
        </p:txBody>
      </p:sp>
      <p:sp>
        <p:nvSpPr>
          <p:cNvPr id="47" name="Text 45"/>
          <p:cNvSpPr txBox="1"/>
          <p:nvPr/>
        </p:nvSpPr>
        <p:spPr>
          <a:xfrm>
            <a:off x="3511296" y="3410712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미배정 민원</a:t>
            </a:r>
            <a:endParaRPr lang="en-US" sz="1050" dirty="0"/>
          </a:p>
        </p:txBody>
      </p:sp>
      <p:sp>
        <p:nvSpPr>
          <p:cNvPr id="48" name="Shape 46"/>
          <p:cNvSpPr/>
          <p:nvPr/>
        </p:nvSpPr>
        <p:spPr>
          <a:xfrm>
            <a:off x="4919472" y="3429000"/>
            <a:ext cx="219456" cy="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49" name="Text 47"/>
          <p:cNvSpPr txBox="1"/>
          <p:nvPr/>
        </p:nvSpPr>
        <p:spPr>
          <a:xfrm>
            <a:off x="4809744" y="3118104"/>
            <a:ext cx="512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민원 선택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5175504" y="3154680"/>
            <a:ext cx="137160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D9DEE7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5175504" y="3218688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803D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W-03</a:t>
            </a:r>
            <a:endParaRPr lang="en-US" sz="900" dirty="0"/>
          </a:p>
        </p:txBody>
      </p:sp>
      <p:sp>
        <p:nvSpPr>
          <p:cNvPr id="52" name="Text 50"/>
          <p:cNvSpPr txBox="1"/>
          <p:nvPr/>
        </p:nvSpPr>
        <p:spPr>
          <a:xfrm>
            <a:off x="5175504" y="3410712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민원 상세</a:t>
            </a:r>
            <a:endParaRPr lang="en-US" sz="1050" dirty="0"/>
          </a:p>
        </p:txBody>
      </p:sp>
      <p:sp>
        <p:nvSpPr>
          <p:cNvPr id="53" name="Shape 51"/>
          <p:cNvSpPr/>
          <p:nvPr/>
        </p:nvSpPr>
        <p:spPr>
          <a:xfrm>
            <a:off x="6583680" y="3429000"/>
            <a:ext cx="219456" cy="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54" name="Text 52"/>
          <p:cNvSpPr txBox="1"/>
          <p:nvPr/>
        </p:nvSpPr>
        <p:spPr>
          <a:xfrm>
            <a:off x="6473952" y="3118104"/>
            <a:ext cx="512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담당 외</a:t>
            </a:r>
            <a:endParaRPr lang="en-US" sz="850" dirty="0"/>
          </a:p>
        </p:txBody>
      </p:sp>
      <p:sp>
        <p:nvSpPr>
          <p:cNvPr id="55" name="Shape 53"/>
          <p:cNvSpPr/>
          <p:nvPr/>
        </p:nvSpPr>
        <p:spPr>
          <a:xfrm>
            <a:off x="6839712" y="3154680"/>
            <a:ext cx="137160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64748B"/>
            </a:solidFill>
            <a:prstDash val="dash"/>
          </a:ln>
        </p:spPr>
      </p:sp>
      <p:sp>
        <p:nvSpPr>
          <p:cNvPr id="56" name="Text 54"/>
          <p:cNvSpPr txBox="1"/>
          <p:nvPr/>
        </p:nvSpPr>
        <p:spPr>
          <a:xfrm>
            <a:off x="6839712" y="3218688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803D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W-04</a:t>
            </a:r>
            <a:endParaRPr lang="en-US" sz="900" dirty="0"/>
          </a:p>
        </p:txBody>
      </p:sp>
      <p:sp>
        <p:nvSpPr>
          <p:cNvPr id="57" name="Text 55"/>
          <p:cNvSpPr txBox="1"/>
          <p:nvPr/>
        </p:nvSpPr>
        <p:spPr>
          <a:xfrm>
            <a:off x="6839712" y="3410712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담당 외 경고</a:t>
            </a:r>
            <a:endParaRPr lang="en-US" sz="1050" dirty="0"/>
          </a:p>
        </p:txBody>
      </p:sp>
      <p:sp>
        <p:nvSpPr>
          <p:cNvPr id="58" name="Shape 56"/>
          <p:cNvSpPr/>
          <p:nvPr/>
        </p:nvSpPr>
        <p:spPr>
          <a:xfrm>
            <a:off x="8247888" y="3429000"/>
            <a:ext cx="219456" cy="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59" name="Text 57"/>
          <p:cNvSpPr txBox="1"/>
          <p:nvPr/>
        </p:nvSpPr>
        <p:spPr>
          <a:xfrm>
            <a:off x="8138160" y="3118104"/>
            <a:ext cx="512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선점</a:t>
            </a:r>
            <a:endParaRPr lang="en-US" sz="850" dirty="0"/>
          </a:p>
        </p:txBody>
      </p:sp>
      <p:sp>
        <p:nvSpPr>
          <p:cNvPr id="60" name="Shape 58"/>
          <p:cNvSpPr/>
          <p:nvPr/>
        </p:nvSpPr>
        <p:spPr>
          <a:xfrm>
            <a:off x="8503920" y="3154680"/>
            <a:ext cx="137160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D9DEE7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8503920" y="3218688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803D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W-05</a:t>
            </a:r>
            <a:endParaRPr lang="en-US" sz="900" dirty="0"/>
          </a:p>
        </p:txBody>
      </p:sp>
      <p:sp>
        <p:nvSpPr>
          <p:cNvPr id="62" name="Text 60"/>
          <p:cNvSpPr txBox="1"/>
          <p:nvPr/>
        </p:nvSpPr>
        <p:spPr>
          <a:xfrm>
            <a:off x="8503920" y="3410712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내 작업</a:t>
            </a:r>
            <a:endParaRPr lang="en-US" sz="1050" dirty="0"/>
          </a:p>
        </p:txBody>
      </p:sp>
      <p:sp>
        <p:nvSpPr>
          <p:cNvPr id="63" name="Shape 61"/>
          <p:cNvSpPr/>
          <p:nvPr/>
        </p:nvSpPr>
        <p:spPr>
          <a:xfrm>
            <a:off x="9912096" y="3429000"/>
            <a:ext cx="219456" cy="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64" name="Text 62"/>
          <p:cNvSpPr txBox="1"/>
          <p:nvPr/>
        </p:nvSpPr>
        <p:spPr>
          <a:xfrm>
            <a:off x="9802368" y="3118104"/>
            <a:ext cx="512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결과 등록</a:t>
            </a:r>
            <a:endParaRPr lang="en-US" sz="850" dirty="0"/>
          </a:p>
        </p:txBody>
      </p:sp>
      <p:sp>
        <p:nvSpPr>
          <p:cNvPr id="65" name="Shape 63"/>
          <p:cNvSpPr/>
          <p:nvPr/>
        </p:nvSpPr>
        <p:spPr>
          <a:xfrm>
            <a:off x="10168128" y="3154680"/>
            <a:ext cx="137160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D9DEE7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10168128" y="3218688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803D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W-06</a:t>
            </a:r>
            <a:endParaRPr lang="en-US" sz="900" dirty="0"/>
          </a:p>
        </p:txBody>
      </p:sp>
      <p:sp>
        <p:nvSpPr>
          <p:cNvPr id="67" name="Text 65"/>
          <p:cNvSpPr txBox="1"/>
          <p:nvPr/>
        </p:nvSpPr>
        <p:spPr>
          <a:xfrm>
            <a:off x="10168128" y="3410712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결과 등록</a:t>
            </a:r>
            <a:endParaRPr lang="en-US" sz="1050" dirty="0"/>
          </a:p>
        </p:txBody>
      </p:sp>
      <p:sp>
        <p:nvSpPr>
          <p:cNvPr id="68" name="Text 66"/>
          <p:cNvSpPr txBox="1"/>
          <p:nvPr/>
        </p:nvSpPr>
        <p:spPr>
          <a:xfrm>
            <a:off x="1847088" y="3813048"/>
            <a:ext cx="9692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담당 카테고리면 W-04 없이 W-03 에서 바로 선점 · 선점 충돌 시 E-01</a:t>
            </a:r>
            <a:endParaRPr lang="en-US" sz="950" dirty="0"/>
          </a:p>
        </p:txBody>
      </p:sp>
      <p:sp>
        <p:nvSpPr>
          <p:cNvPr id="69" name="Shape 67"/>
          <p:cNvSpPr/>
          <p:nvPr/>
        </p:nvSpPr>
        <p:spPr>
          <a:xfrm>
            <a:off x="502920" y="4535424"/>
            <a:ext cx="11185855" cy="1481328"/>
          </a:xfrm>
          <a:prstGeom prst="roundRect">
            <a:avLst>
              <a:gd name="adj" fmla="val 3704"/>
            </a:avLst>
          </a:prstGeom>
          <a:solidFill>
            <a:srgbClr val="FDF4E3"/>
          </a:solidFill>
          <a:ln w="12700">
            <a:solidFill>
              <a:srgbClr val="FDF4E3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649224" y="4809744"/>
            <a:ext cx="1152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A5B0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ADMIN</a:t>
            </a:r>
            <a:endParaRPr lang="en-US" sz="1300" dirty="0"/>
          </a:p>
        </p:txBody>
      </p:sp>
      <p:sp>
        <p:nvSpPr>
          <p:cNvPr id="71" name="Text 69"/>
          <p:cNvSpPr txBox="1"/>
          <p:nvPr/>
        </p:nvSpPr>
        <p:spPr>
          <a:xfrm>
            <a:off x="649224" y="5102352"/>
            <a:ext cx="11521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시설물 관리 소장</a:t>
            </a:r>
            <a:endParaRPr lang="en-US" sz="900" dirty="0"/>
          </a:p>
        </p:txBody>
      </p:sp>
      <p:sp>
        <p:nvSpPr>
          <p:cNvPr id="72" name="Shape 70"/>
          <p:cNvSpPr/>
          <p:nvPr/>
        </p:nvSpPr>
        <p:spPr>
          <a:xfrm>
            <a:off x="1847088" y="4828032"/>
            <a:ext cx="137160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D9DEE7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1847088" y="4892040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A5B0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W-01</a:t>
            </a:r>
            <a:endParaRPr lang="en-US" sz="900" dirty="0"/>
          </a:p>
        </p:txBody>
      </p:sp>
      <p:sp>
        <p:nvSpPr>
          <p:cNvPr id="74" name="Text 72"/>
          <p:cNvSpPr txBox="1"/>
          <p:nvPr/>
        </p:nvSpPr>
        <p:spPr>
          <a:xfrm>
            <a:off x="1847088" y="5084064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직원 로그인</a:t>
            </a:r>
            <a:endParaRPr lang="en-US" sz="1050" dirty="0"/>
          </a:p>
        </p:txBody>
      </p:sp>
      <p:sp>
        <p:nvSpPr>
          <p:cNvPr id="75" name="Shape 73"/>
          <p:cNvSpPr/>
          <p:nvPr/>
        </p:nvSpPr>
        <p:spPr>
          <a:xfrm>
            <a:off x="3255264" y="5102352"/>
            <a:ext cx="219456" cy="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76" name="Text 74"/>
          <p:cNvSpPr txBox="1"/>
          <p:nvPr/>
        </p:nvSpPr>
        <p:spPr>
          <a:xfrm>
            <a:off x="3145536" y="4791456"/>
            <a:ext cx="512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분기</a:t>
            </a:r>
            <a:endParaRPr lang="en-US" sz="850" dirty="0"/>
          </a:p>
        </p:txBody>
      </p:sp>
      <p:sp>
        <p:nvSpPr>
          <p:cNvPr id="77" name="Shape 75"/>
          <p:cNvSpPr/>
          <p:nvPr/>
        </p:nvSpPr>
        <p:spPr>
          <a:xfrm>
            <a:off x="3511296" y="4828032"/>
            <a:ext cx="137160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D9DEE7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3511296" y="4892040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A5B0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A-01</a:t>
            </a:r>
            <a:endParaRPr lang="en-US" sz="900" dirty="0"/>
          </a:p>
        </p:txBody>
      </p:sp>
      <p:sp>
        <p:nvSpPr>
          <p:cNvPr id="79" name="Text 77"/>
          <p:cNvSpPr txBox="1"/>
          <p:nvPr/>
        </p:nvSpPr>
        <p:spPr>
          <a:xfrm>
            <a:off x="3511296" y="5084064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운영 대시보드</a:t>
            </a:r>
            <a:endParaRPr lang="en-US" sz="1050" dirty="0"/>
          </a:p>
        </p:txBody>
      </p:sp>
      <p:sp>
        <p:nvSpPr>
          <p:cNvPr id="80" name="Shape 78"/>
          <p:cNvSpPr/>
          <p:nvPr/>
        </p:nvSpPr>
        <p:spPr>
          <a:xfrm>
            <a:off x="4919472" y="5102352"/>
            <a:ext cx="219456" cy="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81" name="Text 79"/>
          <p:cNvSpPr txBox="1"/>
          <p:nvPr/>
        </p:nvSpPr>
        <p:spPr>
          <a:xfrm>
            <a:off x="4809744" y="4791456"/>
            <a:ext cx="512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전체 보기</a:t>
            </a:r>
            <a:endParaRPr lang="en-US" sz="850" dirty="0"/>
          </a:p>
        </p:txBody>
      </p:sp>
      <p:sp>
        <p:nvSpPr>
          <p:cNvPr id="82" name="Shape 80"/>
          <p:cNvSpPr/>
          <p:nvPr/>
        </p:nvSpPr>
        <p:spPr>
          <a:xfrm>
            <a:off x="5175504" y="4828032"/>
            <a:ext cx="137160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D9DEE7"/>
            </a:solidFill>
            <a:prstDash val="solid"/>
          </a:ln>
        </p:spPr>
      </p:sp>
      <p:sp>
        <p:nvSpPr>
          <p:cNvPr id="83" name="Text 81"/>
          <p:cNvSpPr txBox="1"/>
          <p:nvPr/>
        </p:nvSpPr>
        <p:spPr>
          <a:xfrm>
            <a:off x="5175504" y="4892040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A5B0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A-02</a:t>
            </a:r>
            <a:endParaRPr lang="en-US" sz="900" dirty="0"/>
          </a:p>
        </p:txBody>
      </p:sp>
      <p:sp>
        <p:nvSpPr>
          <p:cNvPr id="84" name="Text 82"/>
          <p:cNvSpPr txBox="1"/>
          <p:nvPr/>
        </p:nvSpPr>
        <p:spPr>
          <a:xfrm>
            <a:off x="5175504" y="5084064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전체 민원</a:t>
            </a:r>
            <a:endParaRPr lang="en-US" sz="1050" dirty="0"/>
          </a:p>
        </p:txBody>
      </p:sp>
      <p:sp>
        <p:nvSpPr>
          <p:cNvPr id="85" name="Shape 83"/>
          <p:cNvSpPr/>
          <p:nvPr/>
        </p:nvSpPr>
        <p:spPr>
          <a:xfrm>
            <a:off x="6583680" y="5102352"/>
            <a:ext cx="219456" cy="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86" name="Text 84"/>
          <p:cNvSpPr txBox="1"/>
          <p:nvPr/>
        </p:nvSpPr>
        <p:spPr>
          <a:xfrm>
            <a:off x="6473952" y="4791456"/>
            <a:ext cx="512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민원 선택</a:t>
            </a:r>
            <a:endParaRPr lang="en-US" sz="850" dirty="0"/>
          </a:p>
        </p:txBody>
      </p:sp>
      <p:sp>
        <p:nvSpPr>
          <p:cNvPr id="87" name="Shape 85"/>
          <p:cNvSpPr/>
          <p:nvPr/>
        </p:nvSpPr>
        <p:spPr>
          <a:xfrm>
            <a:off x="6839712" y="4828032"/>
            <a:ext cx="137160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D9DEE7"/>
            </a:solidFill>
            <a:prstDash val="solid"/>
          </a:ln>
        </p:spPr>
      </p:sp>
      <p:sp>
        <p:nvSpPr>
          <p:cNvPr id="88" name="Text 86"/>
          <p:cNvSpPr txBox="1"/>
          <p:nvPr/>
        </p:nvSpPr>
        <p:spPr>
          <a:xfrm>
            <a:off x="6839712" y="4892040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A5B0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A-03</a:t>
            </a:r>
            <a:endParaRPr lang="en-US" sz="900" dirty="0"/>
          </a:p>
        </p:txBody>
      </p:sp>
      <p:sp>
        <p:nvSpPr>
          <p:cNvPr id="89" name="Text 87"/>
          <p:cNvSpPr txBox="1"/>
          <p:nvPr/>
        </p:nvSpPr>
        <p:spPr>
          <a:xfrm>
            <a:off x="6839712" y="5084064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민원 상세</a:t>
            </a:r>
            <a:endParaRPr lang="en-US" sz="1050" dirty="0"/>
          </a:p>
        </p:txBody>
      </p:sp>
      <p:sp>
        <p:nvSpPr>
          <p:cNvPr id="90" name="Shape 88"/>
          <p:cNvSpPr/>
          <p:nvPr/>
        </p:nvSpPr>
        <p:spPr>
          <a:xfrm>
            <a:off x="8247888" y="5102352"/>
            <a:ext cx="219456" cy="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91" name="Text 89"/>
          <p:cNvSpPr txBox="1"/>
          <p:nvPr/>
        </p:nvSpPr>
        <p:spPr>
          <a:xfrm>
            <a:off x="8138160" y="4791456"/>
            <a:ext cx="512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배정</a:t>
            </a:r>
            <a:endParaRPr lang="en-US" sz="850" dirty="0"/>
          </a:p>
        </p:txBody>
      </p:sp>
      <p:sp>
        <p:nvSpPr>
          <p:cNvPr id="92" name="Shape 90"/>
          <p:cNvSpPr/>
          <p:nvPr/>
        </p:nvSpPr>
        <p:spPr>
          <a:xfrm>
            <a:off x="8503920" y="4828032"/>
            <a:ext cx="137160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64748B"/>
            </a:solidFill>
            <a:prstDash val="dash"/>
          </a:ln>
        </p:spPr>
      </p:sp>
      <p:sp>
        <p:nvSpPr>
          <p:cNvPr id="93" name="Text 91"/>
          <p:cNvSpPr txBox="1"/>
          <p:nvPr/>
        </p:nvSpPr>
        <p:spPr>
          <a:xfrm>
            <a:off x="8503920" y="4892040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A5B0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A-04</a:t>
            </a:r>
            <a:endParaRPr lang="en-US" sz="900" dirty="0"/>
          </a:p>
        </p:txBody>
      </p:sp>
      <p:sp>
        <p:nvSpPr>
          <p:cNvPr id="94" name="Text 92"/>
          <p:cNvSpPr txBox="1"/>
          <p:nvPr/>
        </p:nvSpPr>
        <p:spPr>
          <a:xfrm>
            <a:off x="8503920" y="5084064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강제 배정</a:t>
            </a:r>
            <a:endParaRPr lang="en-US" sz="1050" dirty="0"/>
          </a:p>
        </p:txBody>
      </p:sp>
      <p:sp>
        <p:nvSpPr>
          <p:cNvPr id="95" name="Shape 93"/>
          <p:cNvSpPr/>
          <p:nvPr/>
        </p:nvSpPr>
        <p:spPr>
          <a:xfrm>
            <a:off x="9912096" y="5102352"/>
            <a:ext cx="219456" cy="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96" name="Text 94"/>
          <p:cNvSpPr txBox="1"/>
          <p:nvPr/>
        </p:nvSpPr>
        <p:spPr>
          <a:xfrm>
            <a:off x="9802368" y="4791456"/>
            <a:ext cx="512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반려</a:t>
            </a:r>
            <a:endParaRPr lang="en-US" sz="850" dirty="0"/>
          </a:p>
        </p:txBody>
      </p:sp>
      <p:sp>
        <p:nvSpPr>
          <p:cNvPr id="97" name="Shape 95"/>
          <p:cNvSpPr/>
          <p:nvPr/>
        </p:nvSpPr>
        <p:spPr>
          <a:xfrm>
            <a:off x="10168128" y="4828032"/>
            <a:ext cx="137160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64748B"/>
            </a:solidFill>
            <a:prstDash val="dash"/>
          </a:ln>
        </p:spPr>
      </p:sp>
      <p:sp>
        <p:nvSpPr>
          <p:cNvPr id="98" name="Text 96"/>
          <p:cNvSpPr txBox="1"/>
          <p:nvPr/>
        </p:nvSpPr>
        <p:spPr>
          <a:xfrm>
            <a:off x="10168128" y="4892040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A5B0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A-05</a:t>
            </a:r>
            <a:endParaRPr lang="en-US" sz="900" dirty="0"/>
          </a:p>
        </p:txBody>
      </p:sp>
      <p:sp>
        <p:nvSpPr>
          <p:cNvPr id="99" name="Text 97"/>
          <p:cNvSpPr txBox="1"/>
          <p:nvPr/>
        </p:nvSpPr>
        <p:spPr>
          <a:xfrm>
            <a:off x="10168128" y="5084064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민원 반려</a:t>
            </a:r>
            <a:endParaRPr lang="en-US" sz="1050" dirty="0"/>
          </a:p>
        </p:txBody>
      </p:sp>
      <p:sp>
        <p:nvSpPr>
          <p:cNvPr id="100" name="Text 98"/>
          <p:cNvSpPr txBox="1"/>
          <p:nvPr/>
        </p:nvSpPr>
        <p:spPr>
          <a:xfrm>
            <a:off x="1847088" y="5486400"/>
            <a:ext cx="9692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A-01  →  A-06 민원 통계</a:t>
            </a:r>
            <a:endParaRPr lang="en-US" sz="950" dirty="0"/>
          </a:p>
        </p:txBody>
      </p:sp>
      <p:sp>
        <p:nvSpPr>
          <p:cNvPr id="101" name="Text 99"/>
          <p:cNvSpPr txBox="1"/>
          <p:nvPr/>
        </p:nvSpPr>
        <p:spPr>
          <a:xfrm>
            <a:off x="502920" y="6144768"/>
            <a:ext cx="111858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W-01 직원 로그인은 WORKER · ADMIN 공용이며, 인증 후 역할에 따라 W-02 또는 A-01 로 진입한다.  U-05 · W-03 · A-03 은 같은 민원 상세 레이아웃을 공유하고 액션 영역만 다르다.</a:t>
            </a:r>
            <a:endParaRPr lang="en-US" sz="1050" dirty="0"/>
          </a:p>
        </p:txBody>
      </p:sp>
      <p:sp>
        <p:nvSpPr>
          <p:cNvPr id="102" name="Text 100"/>
          <p:cNvSpPr txBox="1"/>
          <p:nvPr/>
        </p:nvSpPr>
        <p:spPr>
          <a:xfrm>
            <a:off x="502920" y="64465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오피스 시설 민원 처리 서비스</a:t>
            </a:r>
            <a:endParaRPr lang="en-US" sz="900" dirty="0"/>
          </a:p>
        </p:txBody>
      </p:sp>
      <p:sp>
        <p:nvSpPr>
          <p:cNvPr id="103" name="Text 101"/>
          <p:cNvSpPr txBox="1"/>
          <p:nvPr/>
        </p:nvSpPr>
        <p:spPr>
          <a:xfrm>
            <a:off x="10957255" y="6446520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9144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5BE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03 UI 흐름 · 건물 사용자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12064"/>
            <a:ext cx="1118585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U-01  사용자 홈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932688"/>
            <a:ext cx="111858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로그인 없이 시작한다. 가입 절차 자체가 새로운 접수 장벽이 되기 때문이다.</a:t>
            </a:r>
            <a:endParaRPr lang="en-US" sz="1200" dirty="0"/>
          </a:p>
        </p:txBody>
      </p:sp>
      <p:pic>
        <p:nvPicPr>
          <p:cNvPr id="5" name="Image 0" descr="/Users/smoh/my-workspace/WebMiniProject/docs/img/pc/U-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83341"/>
            <a:ext cx="7269480" cy="3846767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891272" y="2737371"/>
            <a:ext cx="347472" cy="0"/>
          </a:xfrm>
          <a:prstGeom prst="line">
            <a:avLst/>
          </a:prstGeom>
          <a:noFill/>
          <a:ln w="15875">
            <a:solidFill>
              <a:srgbClr val="15803D"/>
            </a:solidFill>
            <a:prstDash val="solid"/>
            <a:headEnd type="triangle"/>
          </a:ln>
        </p:spPr>
      </p:sp>
      <p:sp>
        <p:nvSpPr>
          <p:cNvPr id="7" name="Shape 4"/>
          <p:cNvSpPr/>
          <p:nvPr/>
        </p:nvSpPr>
        <p:spPr>
          <a:xfrm>
            <a:off x="8293608" y="2344179"/>
            <a:ext cx="3395167" cy="786384"/>
          </a:xfrm>
          <a:prstGeom prst="roundRect">
            <a:avLst>
              <a:gd name="adj" fmla="val 6977"/>
            </a:avLst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494776" y="2426475"/>
            <a:ext cx="299283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803D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신고 진입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8494776" y="2691651"/>
            <a:ext cx="299283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가입·로그인 없이 바로 신고. C-1(접수 채널이 사람에 의존) 해소의 출발점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7891272" y="3699062"/>
            <a:ext cx="347472" cy="0"/>
          </a:xfrm>
          <a:prstGeom prst="line">
            <a:avLst/>
          </a:prstGeom>
          <a:noFill/>
          <a:ln w="15875">
            <a:solidFill>
              <a:srgbClr val="C81E1E"/>
            </a:solidFill>
            <a:prstDash val="solid"/>
            <a:headEnd type="triangle"/>
          </a:ln>
        </p:spPr>
      </p:sp>
      <p:sp>
        <p:nvSpPr>
          <p:cNvPr id="11" name="Shape 8"/>
          <p:cNvSpPr/>
          <p:nvPr/>
        </p:nvSpPr>
        <p:spPr>
          <a:xfrm>
            <a:off x="8293608" y="3305870"/>
            <a:ext cx="3395167" cy="786384"/>
          </a:xfrm>
          <a:prstGeom prst="roundRect">
            <a:avLst>
              <a:gd name="adj" fmla="val 6977"/>
            </a:avLst>
          </a:prstGeom>
          <a:solidFill>
            <a:srgbClr val="FDF0F0"/>
          </a:solidFill>
          <a:ln w="12700">
            <a:solidFill>
              <a:srgbClr val="FDF0F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494776" y="3388166"/>
            <a:ext cx="299283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81E1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GET /complaints/{id}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8494776" y="3653342"/>
            <a:ext cx="299283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민원 번호만으로 접수 내역 조회. 비밀번호를 요구하지 않는다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7891272" y="5160834"/>
            <a:ext cx="347472" cy="0"/>
          </a:xfrm>
          <a:prstGeom prst="line">
            <a:avLst/>
          </a:prstGeom>
          <a:noFill/>
          <a:ln w="15875">
            <a:solidFill>
              <a:srgbClr val="15803D"/>
            </a:solidFill>
            <a:prstDash val="solid"/>
            <a:headEnd type="triangle"/>
          </a:ln>
        </p:spPr>
      </p:sp>
      <p:sp>
        <p:nvSpPr>
          <p:cNvPr id="15" name="Shape 12"/>
          <p:cNvSpPr/>
          <p:nvPr/>
        </p:nvSpPr>
        <p:spPr>
          <a:xfrm>
            <a:off x="8293608" y="4767642"/>
            <a:ext cx="3395167" cy="786384"/>
          </a:xfrm>
          <a:prstGeom prst="roundRect">
            <a:avLst>
              <a:gd name="adj" fmla="val 6977"/>
            </a:avLst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94776" y="4849938"/>
            <a:ext cx="299283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803D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직원 진입점 분리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8494776" y="5115114"/>
            <a:ext cx="299283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하단 링크로 W-01 직원 로그인 이동. 신고자 동선과 섞이지 않는다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502920" y="5870448"/>
            <a:ext cx="11185855" cy="512064"/>
          </a:xfrm>
          <a:prstGeom prst="roundRect">
            <a:avLst>
              <a:gd name="adj" fmla="val 10714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85800" y="5998464"/>
            <a:ext cx="475488" cy="256032"/>
          </a:xfrm>
          <a:prstGeom prst="roundRect">
            <a:avLst>
              <a:gd name="adj" fmla="val 28571"/>
            </a:avLst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85800" y="6035040"/>
            <a:ext cx="4754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DB</a:t>
            </a:r>
            <a:endParaRPr lang="en-US" sz="950" dirty="0"/>
          </a:p>
        </p:txBody>
      </p:sp>
      <p:sp>
        <p:nvSpPr>
          <p:cNvPr id="21" name="Text 18"/>
          <p:cNvSpPr txBox="1"/>
          <p:nvPr/>
        </p:nvSpPr>
        <p:spPr>
          <a:xfrm>
            <a:off x="1280160" y="6016752"/>
            <a:ext cx="101800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 화면은 조회만 수행하며 쓰기가 없다.</a:t>
            </a:r>
            <a:endParaRPr lang="en-US" sz="1050" dirty="0"/>
          </a:p>
        </p:txBody>
      </p:sp>
      <p:sp>
        <p:nvSpPr>
          <p:cNvPr id="22" name="Text 19"/>
          <p:cNvSpPr txBox="1"/>
          <p:nvPr/>
        </p:nvSpPr>
        <p:spPr>
          <a:xfrm>
            <a:off x="502920" y="64465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UI 흐름 · U-01 사용자 홈</a:t>
            </a:r>
            <a:endParaRPr lang="en-US" sz="900" dirty="0"/>
          </a:p>
        </p:txBody>
      </p:sp>
      <p:sp>
        <p:nvSpPr>
          <p:cNvPr id="23" name="Text 20"/>
          <p:cNvSpPr txBox="1"/>
          <p:nvPr/>
        </p:nvSpPr>
        <p:spPr>
          <a:xfrm>
            <a:off x="10957255" y="6446520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9144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5BE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03 UI 흐름 · 건물 사용자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12064"/>
            <a:ext cx="1118585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U-02  민원 등록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932688"/>
            <a:ext cx="111858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위치·카테고리·우선순위가 그대로 complaint 의 분류 컬럼이 된다.</a:t>
            </a:r>
            <a:endParaRPr lang="en-US" sz="1200" dirty="0"/>
          </a:p>
        </p:txBody>
      </p:sp>
      <p:pic>
        <p:nvPicPr>
          <p:cNvPr id="5" name="Image 0" descr="/Users/smoh/my-workspace/WebMiniProject/docs/img/pc/U-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243584"/>
            <a:ext cx="6319414" cy="45262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941206" y="1636776"/>
            <a:ext cx="347472" cy="0"/>
          </a:xfrm>
          <a:prstGeom prst="line">
            <a:avLst/>
          </a:prstGeom>
          <a:noFill/>
          <a:ln w="15875">
            <a:solidFill>
              <a:srgbClr val="C81E1E"/>
            </a:solidFill>
            <a:prstDash val="solid"/>
            <a:headEnd type="triangle"/>
          </a:ln>
        </p:spPr>
      </p:sp>
      <p:sp>
        <p:nvSpPr>
          <p:cNvPr id="7" name="Shape 4"/>
          <p:cNvSpPr/>
          <p:nvPr/>
        </p:nvSpPr>
        <p:spPr>
          <a:xfrm>
            <a:off x="7343542" y="1243584"/>
            <a:ext cx="4345234" cy="786384"/>
          </a:xfrm>
          <a:prstGeom prst="roundRect">
            <a:avLst>
              <a:gd name="adj" fmla="val 6977"/>
            </a:avLst>
          </a:prstGeom>
          <a:solidFill>
            <a:srgbClr val="FDF0F0"/>
          </a:solidFill>
          <a:ln w="12700">
            <a:solidFill>
              <a:srgbClr val="FDF0F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544710" y="1325880"/>
            <a:ext cx="394289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81E1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GET /categories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7544710" y="1591056"/>
            <a:ext cx="394289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설비 카테고리 선택지를 채운다. 비인증 호출 가능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6941206" y="2542032"/>
            <a:ext cx="347472" cy="0"/>
          </a:xfrm>
          <a:prstGeom prst="line">
            <a:avLst/>
          </a:prstGeom>
          <a:noFill/>
          <a:ln w="15875">
            <a:solidFill>
              <a:srgbClr val="15803D"/>
            </a:solidFill>
            <a:prstDash val="solid"/>
            <a:headEnd type="triangle"/>
          </a:ln>
        </p:spPr>
      </p:sp>
      <p:sp>
        <p:nvSpPr>
          <p:cNvPr id="11" name="Shape 8"/>
          <p:cNvSpPr/>
          <p:nvPr/>
        </p:nvSpPr>
        <p:spPr>
          <a:xfrm>
            <a:off x="7343542" y="2148840"/>
            <a:ext cx="4345234" cy="786384"/>
          </a:xfrm>
          <a:prstGeom prst="roundRect">
            <a:avLst>
              <a:gd name="adj" fmla="val 6977"/>
            </a:avLst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544710" y="2231136"/>
            <a:ext cx="394289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803D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분류 정보 입력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7544710" y="2496312"/>
            <a:ext cx="394289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floor_no · space · category_code · priority — 오분류 시 관리소장이 정정(FR-307)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6941206" y="4480560"/>
            <a:ext cx="347472" cy="0"/>
          </a:xfrm>
          <a:prstGeom prst="line">
            <a:avLst/>
          </a:prstGeom>
          <a:noFill/>
          <a:ln w="15875">
            <a:solidFill>
              <a:srgbClr val="9A5B08"/>
            </a:solidFill>
            <a:prstDash val="solid"/>
            <a:headEnd type="triangle"/>
          </a:ln>
        </p:spPr>
      </p:sp>
      <p:sp>
        <p:nvSpPr>
          <p:cNvPr id="15" name="Shape 12"/>
          <p:cNvSpPr/>
          <p:nvPr/>
        </p:nvSpPr>
        <p:spPr>
          <a:xfrm>
            <a:off x="7343542" y="4087368"/>
            <a:ext cx="4345234" cy="786384"/>
          </a:xfrm>
          <a:prstGeom prst="roundRect">
            <a:avLst>
              <a:gd name="adj" fmla="val 6977"/>
            </a:avLst>
          </a:prstGeom>
          <a:solidFill>
            <a:srgbClr val="FDF4E3"/>
          </a:solidFill>
          <a:ln w="12700">
            <a:solidFill>
              <a:srgbClr val="FDF4E3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544710" y="4169664"/>
            <a:ext cx="394289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5B0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4자리 비밀번호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7544710" y="4434840"/>
            <a:ext cx="394289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인증 수단이 아니라 수정·취소 시 본인 확인 수단. 해시로 저장한다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6941206" y="5385816"/>
            <a:ext cx="347472" cy="0"/>
          </a:xfrm>
          <a:prstGeom prst="line">
            <a:avLst/>
          </a:prstGeom>
          <a:noFill/>
          <a:ln w="15875">
            <a:solidFill>
              <a:srgbClr val="C81E1E"/>
            </a:solidFill>
            <a:prstDash val="solid"/>
            <a:headEnd type="triangle"/>
          </a:ln>
        </p:spPr>
      </p:sp>
      <p:sp>
        <p:nvSpPr>
          <p:cNvPr id="19" name="Shape 16"/>
          <p:cNvSpPr/>
          <p:nvPr/>
        </p:nvSpPr>
        <p:spPr>
          <a:xfrm>
            <a:off x="7343542" y="4992624"/>
            <a:ext cx="4345234" cy="786384"/>
          </a:xfrm>
          <a:prstGeom prst="roundRect">
            <a:avLst>
              <a:gd name="adj" fmla="val 6977"/>
            </a:avLst>
          </a:prstGeom>
          <a:solidFill>
            <a:srgbClr val="FDF0F0"/>
          </a:solidFill>
          <a:ln w="12700">
            <a:solidFill>
              <a:srgbClr val="FDF0F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544710" y="5074920"/>
            <a:ext cx="394289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81E1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POST /complaints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7544710" y="5340096"/>
            <a:ext cx="394289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201 Created + 민원 번호 발급. 400 INVALID_PAYLOAD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502920" y="5870448"/>
            <a:ext cx="11185855" cy="512064"/>
          </a:xfrm>
          <a:prstGeom prst="roundRect">
            <a:avLst>
              <a:gd name="adj" fmla="val 10714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85800" y="5998464"/>
            <a:ext cx="475488" cy="256032"/>
          </a:xfrm>
          <a:prstGeom prst="roundRect">
            <a:avLst>
              <a:gd name="adj" fmla="val 28571"/>
            </a:avLst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85800" y="6035040"/>
            <a:ext cx="4754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DB</a:t>
            </a:r>
            <a:endParaRPr lang="en-US" sz="950" dirty="0"/>
          </a:p>
        </p:txBody>
      </p:sp>
      <p:sp>
        <p:nvSpPr>
          <p:cNvPr id="25" name="Text 22"/>
          <p:cNvSpPr txBox="1"/>
          <p:nvPr/>
        </p:nvSpPr>
        <p:spPr>
          <a:xfrm>
            <a:off x="1280160" y="6016752"/>
            <a:ext cx="101800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complaint INSERT (password_hash) · complaint_photo INSERT (type=REPORT) · complaint_history INSERT (action=REGISTER)</a:t>
            </a:r>
            <a:endParaRPr lang="en-US" sz="1050" dirty="0"/>
          </a:p>
        </p:txBody>
      </p:sp>
      <p:sp>
        <p:nvSpPr>
          <p:cNvPr id="26" name="Text 23"/>
          <p:cNvSpPr txBox="1"/>
          <p:nvPr/>
        </p:nvSpPr>
        <p:spPr>
          <a:xfrm>
            <a:off x="502920" y="64465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UI 흐름 · U-02 민원 등록</a:t>
            </a:r>
            <a:endParaRPr lang="en-US" sz="900" dirty="0"/>
          </a:p>
        </p:txBody>
      </p:sp>
      <p:sp>
        <p:nvSpPr>
          <p:cNvPr id="27" name="Text 24"/>
          <p:cNvSpPr txBox="1"/>
          <p:nvPr/>
        </p:nvSpPr>
        <p:spPr>
          <a:xfrm>
            <a:off x="10957255" y="6446520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9144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5BE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03 UI 흐름 · 건물 사용자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12064"/>
            <a:ext cx="1118585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U-03  접수 완료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932688"/>
            <a:ext cx="111858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발급된 민원 번호가 이후 조회·수정·취소의 유일한 열쇠다.</a:t>
            </a:r>
            <a:endParaRPr lang="en-US" sz="1200" dirty="0"/>
          </a:p>
        </p:txBody>
      </p:sp>
      <p:pic>
        <p:nvPicPr>
          <p:cNvPr id="5" name="Image 0" descr="/Users/smoh/my-workspace/WebMiniProject/docs/img/pc/U-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819599"/>
            <a:ext cx="7269480" cy="337425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891272" y="2764389"/>
            <a:ext cx="347472" cy="0"/>
          </a:xfrm>
          <a:prstGeom prst="line">
            <a:avLst/>
          </a:prstGeom>
          <a:noFill/>
          <a:ln w="15875">
            <a:solidFill>
              <a:srgbClr val="15803D"/>
            </a:solidFill>
            <a:prstDash val="solid"/>
            <a:headEnd type="triangle"/>
          </a:ln>
        </p:spPr>
      </p:sp>
      <p:sp>
        <p:nvSpPr>
          <p:cNvPr id="7" name="Shape 4"/>
          <p:cNvSpPr/>
          <p:nvPr/>
        </p:nvSpPr>
        <p:spPr>
          <a:xfrm>
            <a:off x="8293608" y="2371197"/>
            <a:ext cx="3395167" cy="786384"/>
          </a:xfrm>
          <a:prstGeom prst="roundRect">
            <a:avLst>
              <a:gd name="adj" fmla="val 6977"/>
            </a:avLst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494776" y="2453493"/>
            <a:ext cx="299283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803D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접수 확인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8494776" y="2718669"/>
            <a:ext cx="299283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직전 POST 응답을 표시한다. 별도 조회를 하지 않는다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7891272" y="3669645"/>
            <a:ext cx="347472" cy="0"/>
          </a:xfrm>
          <a:prstGeom prst="line">
            <a:avLst/>
          </a:prstGeom>
          <a:noFill/>
          <a:ln w="15875">
            <a:solidFill>
              <a:srgbClr val="9A5B08"/>
            </a:solidFill>
            <a:prstDash val="solid"/>
            <a:headEnd type="triangle"/>
          </a:ln>
        </p:spPr>
      </p:sp>
      <p:sp>
        <p:nvSpPr>
          <p:cNvPr id="11" name="Shape 8"/>
          <p:cNvSpPr/>
          <p:nvPr/>
        </p:nvSpPr>
        <p:spPr>
          <a:xfrm>
            <a:off x="8293608" y="3276453"/>
            <a:ext cx="3395167" cy="786384"/>
          </a:xfrm>
          <a:prstGeom prst="roundRect">
            <a:avLst>
              <a:gd name="adj" fmla="val 6977"/>
            </a:avLst>
          </a:prstGeom>
          <a:solidFill>
            <a:srgbClr val="FDF4E3"/>
          </a:solidFill>
          <a:ln w="12700">
            <a:solidFill>
              <a:srgbClr val="FDF4E3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494776" y="3358749"/>
            <a:ext cx="299283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5B0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M-YYMMDD-XXXXXX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8494776" y="3623925"/>
            <a:ext cx="299283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순차 증가값이 아닌 비순차 식별자. 열람이 공개이므로 번호 추측을 막는다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7891272" y="4574901"/>
            <a:ext cx="347472" cy="0"/>
          </a:xfrm>
          <a:prstGeom prst="line">
            <a:avLst/>
          </a:prstGeom>
          <a:noFill/>
          <a:ln w="15875">
            <a:solidFill>
              <a:srgbClr val="15803D"/>
            </a:solidFill>
            <a:prstDash val="solid"/>
            <a:headEnd type="triangle"/>
          </a:ln>
        </p:spPr>
      </p:sp>
      <p:sp>
        <p:nvSpPr>
          <p:cNvPr id="15" name="Shape 12"/>
          <p:cNvSpPr/>
          <p:nvPr/>
        </p:nvSpPr>
        <p:spPr>
          <a:xfrm>
            <a:off x="8293608" y="4181709"/>
            <a:ext cx="3395167" cy="786384"/>
          </a:xfrm>
          <a:prstGeom prst="roundRect">
            <a:avLst>
              <a:gd name="adj" fmla="val 6977"/>
            </a:avLst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94776" y="4264005"/>
            <a:ext cx="299283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803D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번호 보관 안내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8494776" y="4529181"/>
            <a:ext cx="299283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개인 정보를 수집하지 않으므로 번호를 잃으면 조회 경로가 없다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502920" y="5870448"/>
            <a:ext cx="11185855" cy="512064"/>
          </a:xfrm>
          <a:prstGeom prst="roundRect">
            <a:avLst>
              <a:gd name="adj" fmla="val 10714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85800" y="5998464"/>
            <a:ext cx="475488" cy="256032"/>
          </a:xfrm>
          <a:prstGeom prst="roundRect">
            <a:avLst>
              <a:gd name="adj" fmla="val 28571"/>
            </a:avLst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85800" y="6035040"/>
            <a:ext cx="4754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DB</a:t>
            </a:r>
            <a:endParaRPr lang="en-US" sz="950" dirty="0"/>
          </a:p>
        </p:txBody>
      </p:sp>
      <p:sp>
        <p:nvSpPr>
          <p:cNvPr id="21" name="Text 18"/>
          <p:cNvSpPr txBox="1"/>
          <p:nvPr/>
        </p:nvSpPr>
        <p:spPr>
          <a:xfrm>
            <a:off x="1280160" y="6016752"/>
            <a:ext cx="101800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쓰기 없음.</a:t>
            </a:r>
            <a:endParaRPr lang="en-US" sz="1050" dirty="0"/>
          </a:p>
        </p:txBody>
      </p:sp>
      <p:sp>
        <p:nvSpPr>
          <p:cNvPr id="22" name="Text 19"/>
          <p:cNvSpPr txBox="1"/>
          <p:nvPr/>
        </p:nvSpPr>
        <p:spPr>
          <a:xfrm>
            <a:off x="502920" y="64465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UI 흐름 · U-03 접수 완료</a:t>
            </a:r>
            <a:endParaRPr lang="en-US" sz="900" dirty="0"/>
          </a:p>
        </p:txBody>
      </p:sp>
      <p:sp>
        <p:nvSpPr>
          <p:cNvPr id="23" name="Text 20"/>
          <p:cNvSpPr txBox="1"/>
          <p:nvPr/>
        </p:nvSpPr>
        <p:spPr>
          <a:xfrm>
            <a:off x="10957255" y="6446520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9144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5BE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03 UI 흐름 · 건물 사용자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12064"/>
            <a:ext cx="1118585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U-04  민원 조회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932688"/>
            <a:ext cx="111858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조회 단계에서 본인 확인을 요구하지 않는다. 확인하려는 사람에게 다시 장벽이 되기 때문이다.</a:t>
            </a:r>
            <a:endParaRPr lang="en-US" sz="1200" dirty="0"/>
          </a:p>
        </p:txBody>
      </p:sp>
      <p:pic>
        <p:nvPicPr>
          <p:cNvPr id="5" name="Image 0" descr="/Users/smoh/my-workspace/WebMiniProject/docs/img/pc/U-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2278485"/>
            <a:ext cx="7269480" cy="245647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891272" y="3015428"/>
            <a:ext cx="347472" cy="0"/>
          </a:xfrm>
          <a:prstGeom prst="line">
            <a:avLst/>
          </a:prstGeom>
          <a:noFill/>
          <a:ln w="15875">
            <a:solidFill>
              <a:srgbClr val="C81E1E"/>
            </a:solidFill>
            <a:prstDash val="solid"/>
            <a:headEnd type="triangle"/>
          </a:ln>
        </p:spPr>
      </p:sp>
      <p:sp>
        <p:nvSpPr>
          <p:cNvPr id="7" name="Shape 4"/>
          <p:cNvSpPr/>
          <p:nvPr/>
        </p:nvSpPr>
        <p:spPr>
          <a:xfrm>
            <a:off x="8293608" y="2622236"/>
            <a:ext cx="3395167" cy="786384"/>
          </a:xfrm>
          <a:prstGeom prst="roundRect">
            <a:avLst>
              <a:gd name="adj" fmla="val 6977"/>
            </a:avLst>
          </a:prstGeom>
          <a:solidFill>
            <a:srgbClr val="FDF0F0"/>
          </a:solidFill>
          <a:ln w="12700">
            <a:solidFill>
              <a:srgbClr val="FDF0F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494776" y="2704532"/>
            <a:ext cx="299283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81E1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GET /complaints/{id}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8494776" y="2969708"/>
            <a:ext cx="299283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단건 조회는 공개. 404 COMPLAINT_NOT_FOUND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7891272" y="3920684"/>
            <a:ext cx="347472" cy="0"/>
          </a:xfrm>
          <a:prstGeom prst="line">
            <a:avLst/>
          </a:prstGeom>
          <a:noFill/>
          <a:ln w="15875">
            <a:solidFill>
              <a:srgbClr val="9A5B08"/>
            </a:solidFill>
            <a:prstDash val="solid"/>
            <a:headEnd type="triangle"/>
          </a:ln>
        </p:spPr>
      </p:sp>
      <p:sp>
        <p:nvSpPr>
          <p:cNvPr id="11" name="Shape 8"/>
          <p:cNvSpPr/>
          <p:nvPr/>
        </p:nvSpPr>
        <p:spPr>
          <a:xfrm>
            <a:off x="8293608" y="3527492"/>
            <a:ext cx="3395167" cy="786384"/>
          </a:xfrm>
          <a:prstGeom prst="roundRect">
            <a:avLst>
              <a:gd name="adj" fmla="val 6977"/>
            </a:avLst>
          </a:prstGeom>
          <a:solidFill>
            <a:srgbClr val="FDF4E3"/>
          </a:solidFill>
          <a:ln w="12700">
            <a:solidFill>
              <a:srgbClr val="FDF4E3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494776" y="3609788"/>
            <a:ext cx="299283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5B0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목록은 직원 전용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8494776" y="3874964"/>
            <a:ext cx="299283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GET /complaints(목록)는 ADMIN·WORKER만. 신고자는 단건만 볼 수 있다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502920" y="5870448"/>
            <a:ext cx="11185855" cy="512064"/>
          </a:xfrm>
          <a:prstGeom prst="roundRect">
            <a:avLst>
              <a:gd name="adj" fmla="val 10714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685800" y="5998464"/>
            <a:ext cx="475488" cy="256032"/>
          </a:xfrm>
          <a:prstGeom prst="roundRect">
            <a:avLst>
              <a:gd name="adj" fmla="val 28571"/>
            </a:avLst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85800" y="6035040"/>
            <a:ext cx="4754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DB</a:t>
            </a:r>
            <a:endParaRPr lang="en-US" sz="950" dirty="0"/>
          </a:p>
        </p:txBody>
      </p:sp>
      <p:sp>
        <p:nvSpPr>
          <p:cNvPr id="17" name="Text 14"/>
          <p:cNvSpPr txBox="1"/>
          <p:nvPr/>
        </p:nvSpPr>
        <p:spPr>
          <a:xfrm>
            <a:off x="1280160" y="6016752"/>
            <a:ext cx="101800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complaint SELECT · complaint_history SELECT</a:t>
            </a:r>
            <a:endParaRPr lang="en-US" sz="1050" dirty="0"/>
          </a:p>
        </p:txBody>
      </p:sp>
      <p:sp>
        <p:nvSpPr>
          <p:cNvPr id="18" name="Text 15"/>
          <p:cNvSpPr txBox="1"/>
          <p:nvPr/>
        </p:nvSpPr>
        <p:spPr>
          <a:xfrm>
            <a:off x="502920" y="64465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UI 흐름 · U-04 민원 조회</a:t>
            </a:r>
            <a:endParaRPr lang="en-US" sz="900" dirty="0"/>
          </a:p>
        </p:txBody>
      </p:sp>
      <p:sp>
        <p:nvSpPr>
          <p:cNvPr id="19" name="Text 16"/>
          <p:cNvSpPr txBox="1"/>
          <p:nvPr/>
        </p:nvSpPr>
        <p:spPr>
          <a:xfrm>
            <a:off x="10957255" y="6446520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9144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5BE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03 UI 흐름 · 건물 사용자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12064"/>
            <a:ext cx="1118585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U-05  민원 상세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932688"/>
            <a:ext cx="111858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처리 이력 타임라인이 complaint_history 를 그대로 렌더한다.</a:t>
            </a:r>
            <a:endParaRPr lang="en-US" sz="1200" dirty="0"/>
          </a:p>
        </p:txBody>
      </p:sp>
      <p:pic>
        <p:nvPicPr>
          <p:cNvPr id="5" name="Image 0" descr="/Users/smoh/my-workspace/WebMiniProject/docs/img/pc/U-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9443"/>
            <a:ext cx="7269480" cy="4034561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891272" y="1892899"/>
            <a:ext cx="347472" cy="0"/>
          </a:xfrm>
          <a:prstGeom prst="line">
            <a:avLst/>
          </a:prstGeom>
          <a:noFill/>
          <a:ln w="15875">
            <a:solidFill>
              <a:srgbClr val="15803D"/>
            </a:solidFill>
            <a:prstDash val="solid"/>
            <a:headEnd type="triangle"/>
          </a:ln>
        </p:spPr>
      </p:sp>
      <p:sp>
        <p:nvSpPr>
          <p:cNvPr id="7" name="Shape 4"/>
          <p:cNvSpPr/>
          <p:nvPr/>
        </p:nvSpPr>
        <p:spPr>
          <a:xfrm>
            <a:off x="8293608" y="1499707"/>
            <a:ext cx="3395167" cy="786384"/>
          </a:xfrm>
          <a:prstGeom prst="roundRect">
            <a:avLst>
              <a:gd name="adj" fmla="val 6977"/>
            </a:avLst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494776" y="1582003"/>
            <a:ext cx="299283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803D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상태 뱃지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8494776" y="1847179"/>
            <a:ext cx="299283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complaint.status — RECEIVED / IN_PROGRESS / COMPLETED / REJECTED / CANCELED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7891272" y="2798155"/>
            <a:ext cx="347472" cy="0"/>
          </a:xfrm>
          <a:prstGeom prst="line">
            <a:avLst/>
          </a:prstGeom>
          <a:noFill/>
          <a:ln w="15875">
            <a:solidFill>
              <a:srgbClr val="C81E1E"/>
            </a:solidFill>
            <a:prstDash val="solid"/>
            <a:headEnd type="triangle"/>
          </a:ln>
        </p:spPr>
      </p:sp>
      <p:sp>
        <p:nvSpPr>
          <p:cNvPr id="11" name="Shape 8"/>
          <p:cNvSpPr/>
          <p:nvPr/>
        </p:nvSpPr>
        <p:spPr>
          <a:xfrm>
            <a:off x="8293608" y="2404963"/>
            <a:ext cx="3395167" cy="786384"/>
          </a:xfrm>
          <a:prstGeom prst="roundRect">
            <a:avLst>
              <a:gd name="adj" fmla="val 6977"/>
            </a:avLst>
          </a:prstGeom>
          <a:solidFill>
            <a:srgbClr val="FDF0F0"/>
          </a:solidFill>
          <a:ln w="12700">
            <a:solidFill>
              <a:srgbClr val="FDF0F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494776" y="2487259"/>
            <a:ext cx="299283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81E1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GET /complaints/{id}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8494776" y="2752435"/>
            <a:ext cx="299283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상태·담당자·조치 결과·이력을 한 번에 반환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7891272" y="4152254"/>
            <a:ext cx="347472" cy="0"/>
          </a:xfrm>
          <a:prstGeom prst="line">
            <a:avLst/>
          </a:prstGeom>
          <a:noFill/>
          <a:ln w="15875">
            <a:solidFill>
              <a:srgbClr val="15803D"/>
            </a:solidFill>
            <a:prstDash val="solid"/>
            <a:headEnd type="triangle"/>
          </a:ln>
        </p:spPr>
      </p:sp>
      <p:sp>
        <p:nvSpPr>
          <p:cNvPr id="15" name="Shape 12"/>
          <p:cNvSpPr/>
          <p:nvPr/>
        </p:nvSpPr>
        <p:spPr>
          <a:xfrm>
            <a:off x="8293608" y="3759062"/>
            <a:ext cx="3395167" cy="786384"/>
          </a:xfrm>
          <a:prstGeom prst="roundRect">
            <a:avLst>
              <a:gd name="adj" fmla="val 6977"/>
            </a:avLst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94776" y="3841358"/>
            <a:ext cx="299283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803D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처리 이력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8494776" y="4106534"/>
            <a:ext cx="299283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complaint_history 를 시간순으로 렌더. 이 서비스의 핵심 가치(이력 축적)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7891272" y="5201240"/>
            <a:ext cx="347472" cy="0"/>
          </a:xfrm>
          <a:prstGeom prst="line">
            <a:avLst/>
          </a:prstGeom>
          <a:noFill/>
          <a:ln w="15875">
            <a:solidFill>
              <a:srgbClr val="C81E1E"/>
            </a:solidFill>
            <a:prstDash val="solid"/>
            <a:headEnd type="triangle"/>
          </a:ln>
        </p:spPr>
      </p:sp>
      <p:sp>
        <p:nvSpPr>
          <p:cNvPr id="19" name="Shape 16"/>
          <p:cNvSpPr/>
          <p:nvPr/>
        </p:nvSpPr>
        <p:spPr>
          <a:xfrm>
            <a:off x="8293608" y="4808048"/>
            <a:ext cx="3395167" cy="786384"/>
          </a:xfrm>
          <a:prstGeom prst="roundRect">
            <a:avLst>
              <a:gd name="adj" fmla="val 6977"/>
            </a:avLst>
          </a:prstGeom>
          <a:solidFill>
            <a:srgbClr val="FDF0F0"/>
          </a:solidFill>
          <a:ln w="12700">
            <a:solidFill>
              <a:srgbClr val="FDF0F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8494776" y="4890344"/>
            <a:ext cx="299283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81E1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POST .../password-verification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8494776" y="5155520"/>
            <a:ext cx="299283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수정·취소 진입 전 선행 검증. 401 / 409 를 폼 작성 전에 알린다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502920" y="5870448"/>
            <a:ext cx="11185855" cy="512064"/>
          </a:xfrm>
          <a:prstGeom prst="roundRect">
            <a:avLst>
              <a:gd name="adj" fmla="val 10714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85800" y="5998464"/>
            <a:ext cx="475488" cy="256032"/>
          </a:xfrm>
          <a:prstGeom prst="roundRect">
            <a:avLst>
              <a:gd name="adj" fmla="val 28571"/>
            </a:avLst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85800" y="6035040"/>
            <a:ext cx="4754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DB</a:t>
            </a:r>
            <a:endParaRPr lang="en-US" sz="950" dirty="0"/>
          </a:p>
        </p:txBody>
      </p:sp>
      <p:sp>
        <p:nvSpPr>
          <p:cNvPr id="25" name="Text 22"/>
          <p:cNvSpPr txBox="1"/>
          <p:nvPr/>
        </p:nvSpPr>
        <p:spPr>
          <a:xfrm>
            <a:off x="1280160" y="6016752"/>
            <a:ext cx="101800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SELECT 만 수행.</a:t>
            </a:r>
            <a:endParaRPr lang="en-US" sz="1050" dirty="0"/>
          </a:p>
        </p:txBody>
      </p:sp>
      <p:sp>
        <p:nvSpPr>
          <p:cNvPr id="26" name="Text 23"/>
          <p:cNvSpPr txBox="1"/>
          <p:nvPr/>
        </p:nvSpPr>
        <p:spPr>
          <a:xfrm>
            <a:off x="502920" y="64465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UI 흐름 · U-05 민원 상세</a:t>
            </a:r>
            <a:endParaRPr lang="en-US" sz="900" dirty="0"/>
          </a:p>
        </p:txBody>
      </p:sp>
      <p:sp>
        <p:nvSpPr>
          <p:cNvPr id="27" name="Text 24"/>
          <p:cNvSpPr txBox="1"/>
          <p:nvPr/>
        </p:nvSpPr>
        <p:spPr>
          <a:xfrm>
            <a:off x="10957255" y="6446520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9144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5BE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03 UI 흐름 · 건물 사용자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12064"/>
            <a:ext cx="1118585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U-07  본인 확인 → 민원 수정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932688"/>
            <a:ext cx="111858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배정 전(RECEIVED)에만 수정할 수 있다. 신고 원문은 신고자만 고칠 수 있다.</a:t>
            </a:r>
            <a:endParaRPr lang="en-US" sz="1200" dirty="0"/>
          </a:p>
        </p:txBody>
      </p:sp>
      <p:pic>
        <p:nvPicPr>
          <p:cNvPr id="5" name="Image 0" descr="/Users/smoh/my-workspace/WebMiniProject/docs/img/pc/U-0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2602229"/>
            <a:ext cx="3561588" cy="1808990"/>
          </a:xfrm>
          <a:prstGeom prst="rect">
            <a:avLst/>
          </a:prstGeom>
        </p:spPr>
      </p:pic>
      <p:pic>
        <p:nvPicPr>
          <p:cNvPr id="6" name="Image 1" descr="/Users/smoh/my-workspace/WebMiniProject/docs/img/pc/U-07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74820" y="2379630"/>
            <a:ext cx="3561588" cy="2254188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7891272" y="2785384"/>
            <a:ext cx="347472" cy="0"/>
          </a:xfrm>
          <a:prstGeom prst="line">
            <a:avLst/>
          </a:prstGeom>
          <a:noFill/>
          <a:ln w="15875">
            <a:solidFill>
              <a:srgbClr val="9A5B08"/>
            </a:solidFill>
            <a:prstDash val="solid"/>
            <a:headEnd type="triangle"/>
          </a:ln>
        </p:spPr>
      </p:sp>
      <p:sp>
        <p:nvSpPr>
          <p:cNvPr id="8" name="Shape 4"/>
          <p:cNvSpPr/>
          <p:nvPr/>
        </p:nvSpPr>
        <p:spPr>
          <a:xfrm>
            <a:off x="8293608" y="2392192"/>
            <a:ext cx="3395167" cy="786384"/>
          </a:xfrm>
          <a:prstGeom prst="roundRect">
            <a:avLst>
              <a:gd name="adj" fmla="val 6977"/>
            </a:avLst>
          </a:prstGeom>
          <a:solidFill>
            <a:srgbClr val="FDF4E3"/>
          </a:solidFill>
          <a:ln w="12700">
            <a:solidFill>
              <a:srgbClr val="FDF4E3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8494776" y="2474488"/>
            <a:ext cx="299283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5B0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본인 확인 완료</a:t>
            </a:r>
            <a:endParaRPr lang="en-US" sz="1200" dirty="0"/>
          </a:p>
        </p:txBody>
      </p:sp>
      <p:sp>
        <p:nvSpPr>
          <p:cNvPr id="10" name="Text 6"/>
          <p:cNvSpPr txBox="1"/>
          <p:nvPr/>
        </p:nvSpPr>
        <p:spPr>
          <a:xfrm>
            <a:off x="8494776" y="2739664"/>
            <a:ext cx="299283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선행 검증을 통과한 상태. 수정 폼에서 비밀번호를 다시 묻지 않는다</a:t>
            </a:r>
            <a:endParaRPr lang="en-US" sz="1050" dirty="0"/>
          </a:p>
        </p:txBody>
      </p:sp>
      <p:sp>
        <p:nvSpPr>
          <p:cNvPr id="11" name="Shape 7"/>
          <p:cNvSpPr/>
          <p:nvPr/>
        </p:nvSpPr>
        <p:spPr>
          <a:xfrm>
            <a:off x="7891272" y="3690640"/>
            <a:ext cx="347472" cy="0"/>
          </a:xfrm>
          <a:prstGeom prst="line">
            <a:avLst/>
          </a:prstGeom>
          <a:noFill/>
          <a:ln w="15875">
            <a:solidFill>
              <a:srgbClr val="15803D"/>
            </a:solidFill>
            <a:prstDash val="solid"/>
            <a:headEnd type="triangle"/>
          </a:ln>
        </p:spPr>
      </p:sp>
      <p:sp>
        <p:nvSpPr>
          <p:cNvPr id="12" name="Shape 8"/>
          <p:cNvSpPr/>
          <p:nvPr/>
        </p:nvSpPr>
        <p:spPr>
          <a:xfrm>
            <a:off x="8293608" y="3297448"/>
            <a:ext cx="3395167" cy="786384"/>
          </a:xfrm>
          <a:prstGeom prst="roundRect">
            <a:avLst>
              <a:gd name="adj" fmla="val 6977"/>
            </a:avLst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8494776" y="3379744"/>
            <a:ext cx="299283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803D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수정 가능 범위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8494776" y="3644920"/>
            <a:ext cx="299283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제목·내용·사진·위치·카테고리·우선순위 전부. 관리소장은 분류 정보만 수정 가능</a:t>
            </a:r>
            <a:endParaRPr lang="en-US" sz="1050" dirty="0"/>
          </a:p>
        </p:txBody>
      </p:sp>
      <p:sp>
        <p:nvSpPr>
          <p:cNvPr id="15" name="Shape 11"/>
          <p:cNvSpPr/>
          <p:nvPr/>
        </p:nvSpPr>
        <p:spPr>
          <a:xfrm>
            <a:off x="7891272" y="4595896"/>
            <a:ext cx="347472" cy="0"/>
          </a:xfrm>
          <a:prstGeom prst="line">
            <a:avLst/>
          </a:prstGeom>
          <a:noFill/>
          <a:ln w="15875">
            <a:solidFill>
              <a:srgbClr val="C81E1E"/>
            </a:solidFill>
            <a:prstDash val="solid"/>
            <a:headEnd type="triangle"/>
          </a:ln>
        </p:spPr>
      </p:sp>
      <p:sp>
        <p:nvSpPr>
          <p:cNvPr id="16" name="Shape 12"/>
          <p:cNvSpPr/>
          <p:nvPr/>
        </p:nvSpPr>
        <p:spPr>
          <a:xfrm>
            <a:off x="8293608" y="4202704"/>
            <a:ext cx="3395167" cy="786384"/>
          </a:xfrm>
          <a:prstGeom prst="roundRect">
            <a:avLst>
              <a:gd name="adj" fmla="val 6977"/>
            </a:avLst>
          </a:prstGeom>
          <a:solidFill>
            <a:srgbClr val="FDF0F0"/>
          </a:solidFill>
          <a:ln w="12700">
            <a:solidFill>
              <a:srgbClr val="FDF0F0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8494776" y="4285000"/>
            <a:ext cx="299283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81E1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PATCH /complaints/{id}</a:t>
            </a:r>
            <a:endParaRPr lang="en-US" sz="1200" dirty="0"/>
          </a:p>
        </p:txBody>
      </p:sp>
      <p:sp>
        <p:nvSpPr>
          <p:cNvPr id="18" name="Text 14"/>
          <p:cNvSpPr txBox="1"/>
          <p:nvPr/>
        </p:nvSpPr>
        <p:spPr>
          <a:xfrm>
            <a:off x="8494776" y="4550176"/>
            <a:ext cx="299283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body 에 password 포함. 409 NOT_EDITABLE(배정 후)</a:t>
            </a:r>
            <a:endParaRPr lang="en-US" sz="1050" dirty="0"/>
          </a:p>
        </p:txBody>
      </p:sp>
      <p:sp>
        <p:nvSpPr>
          <p:cNvPr id="19" name="Shape 15"/>
          <p:cNvSpPr/>
          <p:nvPr/>
        </p:nvSpPr>
        <p:spPr>
          <a:xfrm>
            <a:off x="502920" y="5870448"/>
            <a:ext cx="11185855" cy="512064"/>
          </a:xfrm>
          <a:prstGeom prst="roundRect">
            <a:avLst>
              <a:gd name="adj" fmla="val 10714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685800" y="5998464"/>
            <a:ext cx="475488" cy="256032"/>
          </a:xfrm>
          <a:prstGeom prst="roundRect">
            <a:avLst>
              <a:gd name="adj" fmla="val 28571"/>
            </a:avLst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685800" y="6035040"/>
            <a:ext cx="4754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DB</a:t>
            </a:r>
            <a:endParaRPr lang="en-US" sz="950" dirty="0"/>
          </a:p>
        </p:txBody>
      </p:sp>
      <p:sp>
        <p:nvSpPr>
          <p:cNvPr id="22" name="Text 18"/>
          <p:cNvSpPr txBox="1"/>
          <p:nvPr/>
        </p:nvSpPr>
        <p:spPr>
          <a:xfrm>
            <a:off x="1280160" y="6016752"/>
            <a:ext cx="101800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complaint UPDATE · complaint_history INSERT (action=UPDATE, to_status=NULL — 상태 전이 아님)</a:t>
            </a:r>
            <a:endParaRPr lang="en-US" sz="1050" dirty="0"/>
          </a:p>
        </p:txBody>
      </p:sp>
      <p:sp>
        <p:nvSpPr>
          <p:cNvPr id="23" name="Text 19"/>
          <p:cNvSpPr txBox="1"/>
          <p:nvPr/>
        </p:nvSpPr>
        <p:spPr>
          <a:xfrm>
            <a:off x="502920" y="64465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UI 흐름 · U-07 본인 확인 → 민원 수정</a:t>
            </a:r>
            <a:endParaRPr lang="en-US" sz="900" dirty="0"/>
          </a:p>
        </p:txBody>
      </p:sp>
      <p:sp>
        <p:nvSpPr>
          <p:cNvPr id="24" name="Text 20"/>
          <p:cNvSpPr txBox="1"/>
          <p:nvPr/>
        </p:nvSpPr>
        <p:spPr>
          <a:xfrm>
            <a:off x="10957255" y="6446520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9144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5BE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03 UI 흐름 · 시설물 작업자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12064"/>
            <a:ext cx="1118585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W-01  직원 로그인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932688"/>
            <a:ext cx="111858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ADMIN 과 WORKER 가 같은 화면을 쓰고, 인증 후 역할로 갈린다.</a:t>
            </a:r>
            <a:endParaRPr lang="en-US" sz="1200" dirty="0"/>
          </a:p>
        </p:txBody>
      </p:sp>
      <p:pic>
        <p:nvPicPr>
          <p:cNvPr id="5" name="Image 0" descr="/Users/smoh/my-workspace/WebMiniProject/docs/img/pc/W-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672695"/>
            <a:ext cx="7269480" cy="366805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891272" y="3506724"/>
            <a:ext cx="347472" cy="0"/>
          </a:xfrm>
          <a:prstGeom prst="line">
            <a:avLst/>
          </a:prstGeom>
          <a:noFill/>
          <a:ln w="15875">
            <a:solidFill>
              <a:srgbClr val="C81E1E"/>
            </a:solidFill>
            <a:prstDash val="solid"/>
            <a:headEnd type="triangle"/>
          </a:ln>
        </p:spPr>
      </p:sp>
      <p:sp>
        <p:nvSpPr>
          <p:cNvPr id="7" name="Shape 4"/>
          <p:cNvSpPr/>
          <p:nvPr/>
        </p:nvSpPr>
        <p:spPr>
          <a:xfrm>
            <a:off x="8293608" y="3113532"/>
            <a:ext cx="3395167" cy="786384"/>
          </a:xfrm>
          <a:prstGeom prst="roundRect">
            <a:avLst>
              <a:gd name="adj" fmla="val 6977"/>
            </a:avLst>
          </a:prstGeom>
          <a:solidFill>
            <a:srgbClr val="FDF0F0"/>
          </a:solidFill>
          <a:ln w="12700">
            <a:solidFill>
              <a:srgbClr val="FDF0F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494776" y="3195828"/>
            <a:ext cx="299283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81E1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POST /auth/login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8494776" y="3461004"/>
            <a:ext cx="299283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사번·비밀번호 → 역할과 담당 카테고리 반환. 401 LOGIN_FAILED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7891272" y="4411980"/>
            <a:ext cx="347472" cy="0"/>
          </a:xfrm>
          <a:prstGeom prst="line">
            <a:avLst/>
          </a:prstGeom>
          <a:noFill/>
          <a:ln w="15875">
            <a:solidFill>
              <a:srgbClr val="15803D"/>
            </a:solidFill>
            <a:prstDash val="solid"/>
            <a:headEnd type="triangle"/>
          </a:ln>
        </p:spPr>
      </p:sp>
      <p:sp>
        <p:nvSpPr>
          <p:cNvPr id="11" name="Shape 8"/>
          <p:cNvSpPr/>
          <p:nvPr/>
        </p:nvSpPr>
        <p:spPr>
          <a:xfrm>
            <a:off x="8293608" y="4018788"/>
            <a:ext cx="3395167" cy="786384"/>
          </a:xfrm>
          <a:prstGeom prst="roundRect">
            <a:avLst>
              <a:gd name="adj" fmla="val 6977"/>
            </a:avLst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494776" y="4101084"/>
            <a:ext cx="299283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803D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역할 분기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8494776" y="4366260"/>
            <a:ext cx="299283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WORKER → W-02 미배정 민원 / ADMIN → A-01 운영 대시보드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502920" y="5870448"/>
            <a:ext cx="11185855" cy="512064"/>
          </a:xfrm>
          <a:prstGeom prst="roundRect">
            <a:avLst>
              <a:gd name="adj" fmla="val 10714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685800" y="5998464"/>
            <a:ext cx="475488" cy="256032"/>
          </a:xfrm>
          <a:prstGeom prst="roundRect">
            <a:avLst>
              <a:gd name="adj" fmla="val 28571"/>
            </a:avLst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85800" y="6035040"/>
            <a:ext cx="4754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DB</a:t>
            </a:r>
            <a:endParaRPr lang="en-US" sz="950" dirty="0"/>
          </a:p>
        </p:txBody>
      </p:sp>
      <p:sp>
        <p:nvSpPr>
          <p:cNvPr id="17" name="Text 14"/>
          <p:cNvSpPr txBox="1"/>
          <p:nvPr/>
        </p:nvSpPr>
        <p:spPr>
          <a:xfrm>
            <a:off x="1280160" y="6016752"/>
            <a:ext cx="101800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user_account SELECT · worker_category SELECT (담당 카테고리)</a:t>
            </a:r>
            <a:endParaRPr lang="en-US" sz="1050" dirty="0"/>
          </a:p>
        </p:txBody>
      </p:sp>
      <p:sp>
        <p:nvSpPr>
          <p:cNvPr id="18" name="Text 15"/>
          <p:cNvSpPr txBox="1"/>
          <p:nvPr/>
        </p:nvSpPr>
        <p:spPr>
          <a:xfrm>
            <a:off x="502920" y="64465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UI 흐름 · W-01 직원 로그인</a:t>
            </a:r>
            <a:endParaRPr lang="en-US" sz="900" dirty="0"/>
          </a:p>
        </p:txBody>
      </p:sp>
      <p:sp>
        <p:nvSpPr>
          <p:cNvPr id="19" name="Text 16"/>
          <p:cNvSpPr txBox="1"/>
          <p:nvPr/>
        </p:nvSpPr>
        <p:spPr>
          <a:xfrm>
            <a:off x="10957255" y="6446520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9144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5BE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03 UI 흐름 · 시설물 작업자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12064"/>
            <a:ext cx="1118585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W-02  미배정 민원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932688"/>
            <a:ext cx="111858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선점(Pull) 방식의 출발점. 누구에게 배정할지 판단하는 부담 자체를 없앴다.</a:t>
            </a:r>
            <a:endParaRPr lang="en-US" sz="1200" dirty="0"/>
          </a:p>
        </p:txBody>
      </p:sp>
      <p:pic>
        <p:nvPicPr>
          <p:cNvPr id="5" name="Image 0" descr="/Users/smoh/my-workspace/WebMiniProject/docs/img/pc/W-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2391638"/>
            <a:ext cx="7269480" cy="2230173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891272" y="2681560"/>
            <a:ext cx="347472" cy="0"/>
          </a:xfrm>
          <a:prstGeom prst="line">
            <a:avLst/>
          </a:prstGeom>
          <a:noFill/>
          <a:ln w="15875">
            <a:solidFill>
              <a:srgbClr val="15803D"/>
            </a:solidFill>
            <a:prstDash val="solid"/>
            <a:headEnd type="triangle"/>
          </a:ln>
        </p:spPr>
      </p:sp>
      <p:sp>
        <p:nvSpPr>
          <p:cNvPr id="7" name="Shape 4"/>
          <p:cNvSpPr/>
          <p:nvPr/>
        </p:nvSpPr>
        <p:spPr>
          <a:xfrm>
            <a:off x="8293608" y="2288368"/>
            <a:ext cx="3395167" cy="786384"/>
          </a:xfrm>
          <a:prstGeom prst="roundRect">
            <a:avLst>
              <a:gd name="adj" fmla="val 6977"/>
            </a:avLst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494776" y="2370664"/>
            <a:ext cx="299283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803D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카테고리 필터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8494776" y="2635840"/>
            <a:ext cx="299283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worker_category 로 본인 담당 여부를 구분 표시. 담당 외도 선점 가능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7891272" y="3586816"/>
            <a:ext cx="347472" cy="0"/>
          </a:xfrm>
          <a:prstGeom prst="line">
            <a:avLst/>
          </a:prstGeom>
          <a:noFill/>
          <a:ln w="15875">
            <a:solidFill>
              <a:srgbClr val="C81E1E"/>
            </a:solidFill>
            <a:prstDash val="solid"/>
            <a:headEnd type="triangle"/>
          </a:ln>
        </p:spPr>
      </p:sp>
      <p:sp>
        <p:nvSpPr>
          <p:cNvPr id="11" name="Shape 8"/>
          <p:cNvSpPr/>
          <p:nvPr/>
        </p:nvSpPr>
        <p:spPr>
          <a:xfrm>
            <a:off x="8293608" y="3193624"/>
            <a:ext cx="3395167" cy="786384"/>
          </a:xfrm>
          <a:prstGeom prst="roundRect">
            <a:avLst>
              <a:gd name="adj" fmla="val 6977"/>
            </a:avLst>
          </a:prstGeom>
          <a:solidFill>
            <a:srgbClr val="FDF0F0"/>
          </a:solidFill>
          <a:ln w="12700">
            <a:solidFill>
              <a:srgbClr val="FDF0F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494776" y="3275920"/>
            <a:ext cx="299283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81E1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GET /complaints?status=RECEIVED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8494776" y="3541096"/>
            <a:ext cx="299283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우선순위 → 경과 시간 순 정렬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7891272" y="4492072"/>
            <a:ext cx="347472" cy="0"/>
          </a:xfrm>
          <a:prstGeom prst="line">
            <a:avLst/>
          </a:prstGeom>
          <a:noFill/>
          <a:ln w="15875">
            <a:solidFill>
              <a:srgbClr val="9A5B08"/>
            </a:solidFill>
            <a:prstDash val="solid"/>
            <a:headEnd type="triangle"/>
          </a:ln>
        </p:spPr>
      </p:sp>
      <p:sp>
        <p:nvSpPr>
          <p:cNvPr id="15" name="Shape 12"/>
          <p:cNvSpPr/>
          <p:nvPr/>
        </p:nvSpPr>
        <p:spPr>
          <a:xfrm>
            <a:off x="8293608" y="4098880"/>
            <a:ext cx="3395167" cy="786384"/>
          </a:xfrm>
          <a:prstGeom prst="roundRect">
            <a:avLst>
              <a:gd name="adj" fmla="val 6977"/>
            </a:avLst>
          </a:prstGeom>
          <a:solidFill>
            <a:srgbClr val="FDF4E3"/>
          </a:solidFill>
          <a:ln w="12700">
            <a:solidFill>
              <a:srgbClr val="FDF4E3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94776" y="4181176"/>
            <a:ext cx="299283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5B0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지연 뱃지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8494776" y="4446352"/>
            <a:ext cx="299283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파생값. 긴급 1시간 / 보통 6시간 / 낮음 24시간 초과 시 표시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502920" y="5870448"/>
            <a:ext cx="11185855" cy="512064"/>
          </a:xfrm>
          <a:prstGeom prst="roundRect">
            <a:avLst>
              <a:gd name="adj" fmla="val 10714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85800" y="5998464"/>
            <a:ext cx="475488" cy="256032"/>
          </a:xfrm>
          <a:prstGeom prst="roundRect">
            <a:avLst>
              <a:gd name="adj" fmla="val 28571"/>
            </a:avLst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85800" y="6035040"/>
            <a:ext cx="4754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DB</a:t>
            </a:r>
            <a:endParaRPr lang="en-US" sz="950" dirty="0"/>
          </a:p>
        </p:txBody>
      </p:sp>
      <p:sp>
        <p:nvSpPr>
          <p:cNvPr id="21" name="Text 18"/>
          <p:cNvSpPr txBox="1"/>
          <p:nvPr/>
        </p:nvSpPr>
        <p:spPr>
          <a:xfrm>
            <a:off x="1280160" y="6016752"/>
            <a:ext cx="101800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idx_complaint_unassigned (status, priority, created_at) 로 정렬 조회</a:t>
            </a:r>
            <a:endParaRPr lang="en-US" sz="1050" dirty="0"/>
          </a:p>
        </p:txBody>
      </p:sp>
      <p:sp>
        <p:nvSpPr>
          <p:cNvPr id="22" name="Text 19"/>
          <p:cNvSpPr txBox="1"/>
          <p:nvPr/>
        </p:nvSpPr>
        <p:spPr>
          <a:xfrm>
            <a:off x="502920" y="64465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UI 흐름 · W-02 미배정 민원</a:t>
            </a:r>
            <a:endParaRPr lang="en-US" sz="900" dirty="0"/>
          </a:p>
        </p:txBody>
      </p:sp>
      <p:sp>
        <p:nvSpPr>
          <p:cNvPr id="23" name="Text 20"/>
          <p:cNvSpPr txBox="1"/>
          <p:nvPr/>
        </p:nvSpPr>
        <p:spPr>
          <a:xfrm>
            <a:off x="10957255" y="6446520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9144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5BE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03 UI 흐름 · 시설물 작업자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12064"/>
            <a:ext cx="1118585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W-03  민원 상세 · 선점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932688"/>
            <a:ext cx="111858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현장에 나가기 전에 중복 여부를 판단할 재료를 제공한다. (AS-04)</a:t>
            </a:r>
            <a:endParaRPr lang="en-US" sz="1200" dirty="0"/>
          </a:p>
        </p:txBody>
      </p:sp>
      <p:pic>
        <p:nvPicPr>
          <p:cNvPr id="5" name="Image 0" descr="/Users/smoh/my-workspace/WebMiniProject/docs/img/pc/W-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2582195"/>
            <a:ext cx="3561588" cy="1849058"/>
          </a:xfrm>
          <a:prstGeom prst="rect">
            <a:avLst/>
          </a:prstGeom>
        </p:spPr>
      </p:pic>
      <p:pic>
        <p:nvPicPr>
          <p:cNvPr id="6" name="Image 1" descr="/Users/smoh/my-workspace/WebMiniProject/docs/img/pc/W-03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74820" y="2582195"/>
            <a:ext cx="3561588" cy="1849058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7891272" y="2670048"/>
            <a:ext cx="347472" cy="0"/>
          </a:xfrm>
          <a:prstGeom prst="line">
            <a:avLst/>
          </a:prstGeom>
          <a:noFill/>
          <a:ln w="15875">
            <a:solidFill>
              <a:srgbClr val="C81E1E"/>
            </a:solidFill>
            <a:prstDash val="solid"/>
            <a:headEnd type="triangle"/>
          </a:ln>
        </p:spPr>
      </p:sp>
      <p:sp>
        <p:nvSpPr>
          <p:cNvPr id="8" name="Shape 4"/>
          <p:cNvSpPr/>
          <p:nvPr/>
        </p:nvSpPr>
        <p:spPr>
          <a:xfrm>
            <a:off x="8293608" y="2276856"/>
            <a:ext cx="3395167" cy="786384"/>
          </a:xfrm>
          <a:prstGeom prst="roundRect">
            <a:avLst>
              <a:gd name="adj" fmla="val 6977"/>
            </a:avLst>
          </a:prstGeom>
          <a:solidFill>
            <a:srgbClr val="FDF0F0"/>
          </a:solidFill>
          <a:ln w="12700">
            <a:solidFill>
              <a:srgbClr val="FDF0F0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8494776" y="2359152"/>
            <a:ext cx="299283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81E1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GET /complaints/{id}</a:t>
            </a:r>
            <a:endParaRPr lang="en-US" sz="1200" dirty="0"/>
          </a:p>
        </p:txBody>
      </p:sp>
      <p:sp>
        <p:nvSpPr>
          <p:cNvPr id="10" name="Text 6"/>
          <p:cNvSpPr txBox="1"/>
          <p:nvPr/>
        </p:nvSpPr>
        <p:spPr>
          <a:xfrm>
            <a:off x="8494776" y="2624328"/>
            <a:ext cx="299283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신고 내용·위치·사진·이력 조회</a:t>
            </a:r>
            <a:endParaRPr lang="en-US" sz="1050" dirty="0"/>
          </a:p>
        </p:txBody>
      </p:sp>
      <p:sp>
        <p:nvSpPr>
          <p:cNvPr id="11" name="Shape 7"/>
          <p:cNvSpPr/>
          <p:nvPr/>
        </p:nvSpPr>
        <p:spPr>
          <a:xfrm>
            <a:off x="7891272" y="3575304"/>
            <a:ext cx="347472" cy="0"/>
          </a:xfrm>
          <a:prstGeom prst="line">
            <a:avLst/>
          </a:prstGeom>
          <a:noFill/>
          <a:ln w="15875">
            <a:solidFill>
              <a:srgbClr val="C81E1E"/>
            </a:solidFill>
            <a:prstDash val="solid"/>
            <a:headEnd type="triangle"/>
          </a:ln>
        </p:spPr>
      </p:sp>
      <p:sp>
        <p:nvSpPr>
          <p:cNvPr id="12" name="Shape 8"/>
          <p:cNvSpPr/>
          <p:nvPr/>
        </p:nvSpPr>
        <p:spPr>
          <a:xfrm>
            <a:off x="8293608" y="3182112"/>
            <a:ext cx="3395167" cy="786384"/>
          </a:xfrm>
          <a:prstGeom prst="roundRect">
            <a:avLst>
              <a:gd name="adj" fmla="val 6977"/>
            </a:avLst>
          </a:prstGeom>
          <a:solidFill>
            <a:srgbClr val="FDF0F0"/>
          </a:solidFill>
          <a:ln w="12700">
            <a:solidFill>
              <a:srgbClr val="FDF0F0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8494776" y="3264408"/>
            <a:ext cx="299283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81E1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GET /complaints/{id}/related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8494776" y="3529584"/>
            <a:ext cx="299283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동일 층·공간·카테고리의 미종료 민원. 자동 판정이 아니라 판단 재료</a:t>
            </a:r>
            <a:endParaRPr lang="en-US" sz="1050" dirty="0"/>
          </a:p>
        </p:txBody>
      </p:sp>
      <p:sp>
        <p:nvSpPr>
          <p:cNvPr id="15" name="Shape 11"/>
          <p:cNvSpPr/>
          <p:nvPr/>
        </p:nvSpPr>
        <p:spPr>
          <a:xfrm>
            <a:off x="7891272" y="4480560"/>
            <a:ext cx="347472" cy="0"/>
          </a:xfrm>
          <a:prstGeom prst="line">
            <a:avLst/>
          </a:prstGeom>
          <a:noFill/>
          <a:ln w="15875">
            <a:solidFill>
              <a:srgbClr val="9A5B08"/>
            </a:solidFill>
            <a:prstDash val="solid"/>
            <a:headEnd type="triangle"/>
          </a:ln>
        </p:spPr>
      </p:sp>
      <p:sp>
        <p:nvSpPr>
          <p:cNvPr id="16" name="Shape 12"/>
          <p:cNvSpPr/>
          <p:nvPr/>
        </p:nvSpPr>
        <p:spPr>
          <a:xfrm>
            <a:off x="8293608" y="4087368"/>
            <a:ext cx="3395167" cy="786384"/>
          </a:xfrm>
          <a:prstGeom prst="roundRect">
            <a:avLst>
              <a:gd name="adj" fmla="val 6977"/>
            </a:avLst>
          </a:prstGeom>
          <a:solidFill>
            <a:srgbClr val="FDF4E3"/>
          </a:solidFill>
          <a:ln w="12700">
            <a:solidFill>
              <a:srgbClr val="FDF4E3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8494776" y="4169664"/>
            <a:ext cx="299283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5B0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P-01 담당 외 경고</a:t>
            </a:r>
            <a:endParaRPr lang="en-US" sz="1200" dirty="0"/>
          </a:p>
        </p:txBody>
      </p:sp>
      <p:sp>
        <p:nvSpPr>
          <p:cNvPr id="18" name="Text 14"/>
          <p:cNvSpPr txBox="1"/>
          <p:nvPr/>
        </p:nvSpPr>
        <p:spPr>
          <a:xfrm>
            <a:off x="8494776" y="4434840"/>
            <a:ext cx="299283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선점은 허용하고 경고만 띄운다. 오분류 민원이 방치되는 것을 막기 위함</a:t>
            </a:r>
            <a:endParaRPr lang="en-US" sz="1050" dirty="0"/>
          </a:p>
        </p:txBody>
      </p:sp>
      <p:sp>
        <p:nvSpPr>
          <p:cNvPr id="19" name="Shape 15"/>
          <p:cNvSpPr/>
          <p:nvPr/>
        </p:nvSpPr>
        <p:spPr>
          <a:xfrm>
            <a:off x="7891272" y="5385816"/>
            <a:ext cx="347472" cy="0"/>
          </a:xfrm>
          <a:prstGeom prst="line">
            <a:avLst/>
          </a:prstGeom>
          <a:noFill/>
          <a:ln w="15875">
            <a:solidFill>
              <a:srgbClr val="C81E1E"/>
            </a:solidFill>
            <a:prstDash val="solid"/>
            <a:headEnd type="triangle"/>
          </a:ln>
        </p:spPr>
      </p:sp>
      <p:sp>
        <p:nvSpPr>
          <p:cNvPr id="20" name="Shape 16"/>
          <p:cNvSpPr/>
          <p:nvPr/>
        </p:nvSpPr>
        <p:spPr>
          <a:xfrm>
            <a:off x="8293608" y="4992624"/>
            <a:ext cx="3395167" cy="786384"/>
          </a:xfrm>
          <a:prstGeom prst="roundRect">
            <a:avLst>
              <a:gd name="adj" fmla="val 6977"/>
            </a:avLst>
          </a:prstGeom>
          <a:solidFill>
            <a:srgbClr val="FDF0F0"/>
          </a:solidFill>
          <a:ln w="12700">
            <a:solidFill>
              <a:srgbClr val="FDF0F0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8494776" y="5074920"/>
            <a:ext cx="299283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81E1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POST /complaints/{id}/claim</a:t>
            </a:r>
            <a:endParaRPr lang="en-US" sz="1200" dirty="0"/>
          </a:p>
        </p:txBody>
      </p:sp>
      <p:sp>
        <p:nvSpPr>
          <p:cNvPr id="22" name="Text 18"/>
          <p:cNvSpPr txBox="1"/>
          <p:nvPr/>
        </p:nvSpPr>
        <p:spPr>
          <a:xfrm>
            <a:off x="8494776" y="5340096"/>
            <a:ext cx="299283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409 ALREADY_CLAIMED — 두 작업자가 동시에 선점할 때 하나만 성공</a:t>
            </a:r>
            <a:endParaRPr lang="en-US" sz="1050" dirty="0"/>
          </a:p>
        </p:txBody>
      </p:sp>
      <p:sp>
        <p:nvSpPr>
          <p:cNvPr id="23" name="Shape 19"/>
          <p:cNvSpPr/>
          <p:nvPr/>
        </p:nvSpPr>
        <p:spPr>
          <a:xfrm>
            <a:off x="502920" y="5870448"/>
            <a:ext cx="11185855" cy="512064"/>
          </a:xfrm>
          <a:prstGeom prst="roundRect">
            <a:avLst>
              <a:gd name="adj" fmla="val 10714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685800" y="5998464"/>
            <a:ext cx="475488" cy="256032"/>
          </a:xfrm>
          <a:prstGeom prst="roundRect">
            <a:avLst>
              <a:gd name="adj" fmla="val 28571"/>
            </a:avLst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685800" y="6035040"/>
            <a:ext cx="4754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DB</a:t>
            </a:r>
            <a:endParaRPr lang="en-US" sz="950" dirty="0"/>
          </a:p>
        </p:txBody>
      </p:sp>
      <p:sp>
        <p:nvSpPr>
          <p:cNvPr id="26" name="Text 22"/>
          <p:cNvSpPr txBox="1"/>
          <p:nvPr/>
        </p:nvSpPr>
        <p:spPr>
          <a:xfrm>
            <a:off x="1280160" y="6016752"/>
            <a:ext cx="101800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complaint UPDATE (status, assignee_id, assigned_at) · history INSERT (CLAIM, note=담당 외 카테고리)</a:t>
            </a:r>
            <a:endParaRPr lang="en-US" sz="1050" dirty="0"/>
          </a:p>
        </p:txBody>
      </p:sp>
      <p:sp>
        <p:nvSpPr>
          <p:cNvPr id="27" name="Text 23"/>
          <p:cNvSpPr txBox="1"/>
          <p:nvPr/>
        </p:nvSpPr>
        <p:spPr>
          <a:xfrm>
            <a:off x="502920" y="64465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UI 흐름 · W-03 민원 상세 · 선점</a:t>
            </a:r>
            <a:endParaRPr lang="en-US" sz="900" dirty="0"/>
          </a:p>
        </p:txBody>
      </p:sp>
      <p:sp>
        <p:nvSpPr>
          <p:cNvPr id="28" name="Text 24"/>
          <p:cNvSpPr txBox="1"/>
          <p:nvPr/>
        </p:nvSpPr>
        <p:spPr>
          <a:xfrm>
            <a:off x="10957255" y="6446520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9144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5BE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03 UI 흐름 · 시설물 작업자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12064"/>
            <a:ext cx="1118585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W-05  내 작업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932688"/>
            <a:ext cx="111858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다음 업무를 전화나 현장 방문으로 확인하던 과정이 사라진다. (AS-03)</a:t>
            </a:r>
            <a:endParaRPr lang="en-US" sz="1200" dirty="0"/>
          </a:p>
        </p:txBody>
      </p:sp>
      <p:pic>
        <p:nvPicPr>
          <p:cNvPr id="5" name="Image 0" descr="/Users/smoh/my-workspace/WebMiniProject/docs/img/pc/W-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2573375"/>
            <a:ext cx="7269480" cy="1866699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891272" y="2797379"/>
            <a:ext cx="347472" cy="0"/>
          </a:xfrm>
          <a:prstGeom prst="line">
            <a:avLst/>
          </a:prstGeom>
          <a:noFill/>
          <a:ln w="15875">
            <a:solidFill>
              <a:srgbClr val="15803D"/>
            </a:solidFill>
            <a:prstDash val="solid"/>
            <a:headEnd type="triangle"/>
          </a:ln>
        </p:spPr>
      </p:sp>
      <p:sp>
        <p:nvSpPr>
          <p:cNvPr id="7" name="Shape 4"/>
          <p:cNvSpPr/>
          <p:nvPr/>
        </p:nvSpPr>
        <p:spPr>
          <a:xfrm>
            <a:off x="8293608" y="2404187"/>
            <a:ext cx="3395167" cy="786384"/>
          </a:xfrm>
          <a:prstGeom prst="roundRect">
            <a:avLst>
              <a:gd name="adj" fmla="val 6977"/>
            </a:avLst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494776" y="2486483"/>
            <a:ext cx="299283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803D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처리중 / 완료 탭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8494776" y="2751659"/>
            <a:ext cx="299283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status 필터. 완료 탭은 본인의 처리 이력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7891272" y="3702635"/>
            <a:ext cx="347472" cy="0"/>
          </a:xfrm>
          <a:prstGeom prst="line">
            <a:avLst/>
          </a:prstGeom>
          <a:noFill/>
          <a:ln w="15875">
            <a:solidFill>
              <a:srgbClr val="C81E1E"/>
            </a:solidFill>
            <a:prstDash val="solid"/>
            <a:headEnd type="triangle"/>
          </a:ln>
        </p:spPr>
      </p:sp>
      <p:sp>
        <p:nvSpPr>
          <p:cNvPr id="11" name="Shape 8"/>
          <p:cNvSpPr/>
          <p:nvPr/>
        </p:nvSpPr>
        <p:spPr>
          <a:xfrm>
            <a:off x="8293608" y="3309443"/>
            <a:ext cx="3395167" cy="786384"/>
          </a:xfrm>
          <a:prstGeom prst="roundRect">
            <a:avLst>
              <a:gd name="adj" fmla="val 6977"/>
            </a:avLst>
          </a:prstGeom>
          <a:solidFill>
            <a:srgbClr val="FDF0F0"/>
          </a:solidFill>
          <a:ln w="12700">
            <a:solidFill>
              <a:srgbClr val="FDF0F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494776" y="3391739"/>
            <a:ext cx="299283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81E1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GET /complaints?assignee=me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8494776" y="3656915"/>
            <a:ext cx="299283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assignee=me 는 호출한 작업자 본인을 뜻한다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7891272" y="4607891"/>
            <a:ext cx="347472" cy="0"/>
          </a:xfrm>
          <a:prstGeom prst="line">
            <a:avLst/>
          </a:prstGeom>
          <a:noFill/>
          <a:ln w="15875">
            <a:solidFill>
              <a:srgbClr val="15803D"/>
            </a:solidFill>
            <a:prstDash val="solid"/>
            <a:headEnd type="triangle"/>
          </a:ln>
        </p:spPr>
      </p:sp>
      <p:sp>
        <p:nvSpPr>
          <p:cNvPr id="15" name="Shape 12"/>
          <p:cNvSpPr/>
          <p:nvPr/>
        </p:nvSpPr>
        <p:spPr>
          <a:xfrm>
            <a:off x="8293608" y="4214699"/>
            <a:ext cx="3395167" cy="786384"/>
          </a:xfrm>
          <a:prstGeom prst="roundRect">
            <a:avLst>
              <a:gd name="adj" fmla="val 6977"/>
            </a:avLst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94776" y="4296995"/>
            <a:ext cx="299283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803D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결과 등록 진입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8494776" y="4562171"/>
            <a:ext cx="299283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W-06 처리 결과 등록으로 이동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502920" y="5870448"/>
            <a:ext cx="11185855" cy="512064"/>
          </a:xfrm>
          <a:prstGeom prst="roundRect">
            <a:avLst>
              <a:gd name="adj" fmla="val 10714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85800" y="5998464"/>
            <a:ext cx="475488" cy="256032"/>
          </a:xfrm>
          <a:prstGeom prst="roundRect">
            <a:avLst>
              <a:gd name="adj" fmla="val 28571"/>
            </a:avLst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85800" y="6035040"/>
            <a:ext cx="4754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DB</a:t>
            </a:r>
            <a:endParaRPr lang="en-US" sz="950" dirty="0"/>
          </a:p>
        </p:txBody>
      </p:sp>
      <p:sp>
        <p:nvSpPr>
          <p:cNvPr id="21" name="Text 18"/>
          <p:cNvSpPr txBox="1"/>
          <p:nvPr/>
        </p:nvSpPr>
        <p:spPr>
          <a:xfrm>
            <a:off x="1280160" y="6016752"/>
            <a:ext cx="101800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idx_complaint_assignee (assignee_id, status)</a:t>
            </a:r>
            <a:endParaRPr lang="en-US" sz="1050" dirty="0"/>
          </a:p>
        </p:txBody>
      </p:sp>
      <p:sp>
        <p:nvSpPr>
          <p:cNvPr id="22" name="Text 19"/>
          <p:cNvSpPr txBox="1"/>
          <p:nvPr/>
        </p:nvSpPr>
        <p:spPr>
          <a:xfrm>
            <a:off x="502920" y="64465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UI 흐름 · W-05 내 작업</a:t>
            </a:r>
            <a:endParaRPr lang="en-US" sz="900" dirty="0"/>
          </a:p>
        </p:txBody>
      </p:sp>
      <p:sp>
        <p:nvSpPr>
          <p:cNvPr id="23" name="Text 20"/>
          <p:cNvSpPr txBox="1"/>
          <p:nvPr/>
        </p:nvSpPr>
        <p:spPr>
          <a:xfrm>
            <a:off x="10957255" y="6446520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9144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5BE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03 UI 흐름 · 시설물 작업자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12064"/>
            <a:ext cx="1118585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W-06  처리 결과 등록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932688"/>
            <a:ext cx="111858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신고자 확인 단계를 두지 않으므로 이 등록이 최종 상태다.</a:t>
            </a:r>
            <a:endParaRPr lang="en-US" sz="1200" dirty="0"/>
          </a:p>
        </p:txBody>
      </p:sp>
      <p:pic>
        <p:nvPicPr>
          <p:cNvPr id="5" name="Image 0" descr="/Users/smoh/my-workspace/WebMiniProject/docs/img/pc/W-0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604543"/>
            <a:ext cx="7269480" cy="3804361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891272" y="2357908"/>
            <a:ext cx="347472" cy="0"/>
          </a:xfrm>
          <a:prstGeom prst="line">
            <a:avLst/>
          </a:prstGeom>
          <a:noFill/>
          <a:ln w="15875">
            <a:solidFill>
              <a:srgbClr val="15803D"/>
            </a:solidFill>
            <a:prstDash val="solid"/>
            <a:headEnd type="triangle"/>
          </a:ln>
        </p:spPr>
      </p:sp>
      <p:sp>
        <p:nvSpPr>
          <p:cNvPr id="7" name="Shape 4"/>
          <p:cNvSpPr/>
          <p:nvPr/>
        </p:nvSpPr>
        <p:spPr>
          <a:xfrm>
            <a:off x="8293608" y="1964716"/>
            <a:ext cx="3395167" cy="786384"/>
          </a:xfrm>
          <a:prstGeom prst="roundRect">
            <a:avLst>
              <a:gd name="adj" fmla="val 6977"/>
            </a:avLst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494776" y="2047012"/>
            <a:ext cx="299283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803D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조치 내용 필수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8494776" y="2312188"/>
            <a:ext cx="299283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400 RESOLUTION_REQUIRED. 이력 축적의 실질 내용이 여기서 생긴다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7891272" y="3575304"/>
            <a:ext cx="347472" cy="0"/>
          </a:xfrm>
          <a:prstGeom prst="line">
            <a:avLst/>
          </a:prstGeom>
          <a:noFill/>
          <a:ln w="15875">
            <a:solidFill>
              <a:srgbClr val="15803D"/>
            </a:solidFill>
            <a:prstDash val="solid"/>
            <a:headEnd type="triangle"/>
          </a:ln>
        </p:spPr>
      </p:sp>
      <p:sp>
        <p:nvSpPr>
          <p:cNvPr id="11" name="Shape 8"/>
          <p:cNvSpPr/>
          <p:nvPr/>
        </p:nvSpPr>
        <p:spPr>
          <a:xfrm>
            <a:off x="8293608" y="3182112"/>
            <a:ext cx="3395167" cy="786384"/>
          </a:xfrm>
          <a:prstGeom prst="roundRect">
            <a:avLst>
              <a:gd name="adj" fmla="val 6977"/>
            </a:avLst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494776" y="3264408"/>
            <a:ext cx="299283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803D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소요 시간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8494776" y="3529584"/>
            <a:ext cx="299283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resolution_minutes. 통계의 평균 처리 시간과 별개로 작업자 실측치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7891272" y="4480560"/>
            <a:ext cx="347472" cy="0"/>
          </a:xfrm>
          <a:prstGeom prst="line">
            <a:avLst/>
          </a:prstGeom>
          <a:noFill/>
          <a:ln w="15875">
            <a:solidFill>
              <a:srgbClr val="C81E1E"/>
            </a:solidFill>
            <a:prstDash val="solid"/>
            <a:headEnd type="triangle"/>
          </a:ln>
        </p:spPr>
      </p:sp>
      <p:sp>
        <p:nvSpPr>
          <p:cNvPr id="15" name="Shape 12"/>
          <p:cNvSpPr/>
          <p:nvPr/>
        </p:nvSpPr>
        <p:spPr>
          <a:xfrm>
            <a:off x="8293608" y="4087368"/>
            <a:ext cx="3395167" cy="786384"/>
          </a:xfrm>
          <a:prstGeom prst="roundRect">
            <a:avLst>
              <a:gd name="adj" fmla="val 6977"/>
            </a:avLst>
          </a:prstGeom>
          <a:solidFill>
            <a:srgbClr val="FDF0F0"/>
          </a:solidFill>
          <a:ln w="12700">
            <a:solidFill>
              <a:srgbClr val="FDF0F0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94776" y="4169664"/>
            <a:ext cx="299283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81E1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POST /complaints/{id}/completion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8494776" y="4434840"/>
            <a:ext cx="299283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IN_PROGRESS → COMPLETED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7891272" y="5385816"/>
            <a:ext cx="347472" cy="0"/>
          </a:xfrm>
          <a:prstGeom prst="line">
            <a:avLst/>
          </a:prstGeom>
          <a:noFill/>
          <a:ln w="15875">
            <a:solidFill>
              <a:srgbClr val="C81E1E"/>
            </a:solidFill>
            <a:prstDash val="solid"/>
            <a:headEnd type="triangle"/>
          </a:ln>
        </p:spPr>
      </p:sp>
      <p:sp>
        <p:nvSpPr>
          <p:cNvPr id="19" name="Shape 16"/>
          <p:cNvSpPr/>
          <p:nvPr/>
        </p:nvSpPr>
        <p:spPr>
          <a:xfrm>
            <a:off x="8293608" y="4992624"/>
            <a:ext cx="3395167" cy="786384"/>
          </a:xfrm>
          <a:prstGeom prst="roundRect">
            <a:avLst>
              <a:gd name="adj" fmla="val 6977"/>
            </a:avLst>
          </a:prstGeom>
          <a:solidFill>
            <a:srgbClr val="FDF0F0"/>
          </a:solidFill>
          <a:ln w="12700">
            <a:solidFill>
              <a:srgbClr val="FDF0F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8494776" y="5074920"/>
            <a:ext cx="299283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81E1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POST /complaints/{id}/release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8494776" y="5340096"/>
            <a:ext cx="299283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반납 시 RECEIVED 복귀. 작성 중 결과는 저장하지 않는다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502920" y="5870448"/>
            <a:ext cx="11185855" cy="512064"/>
          </a:xfrm>
          <a:prstGeom prst="roundRect">
            <a:avLst>
              <a:gd name="adj" fmla="val 10714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85800" y="5998464"/>
            <a:ext cx="475488" cy="256032"/>
          </a:xfrm>
          <a:prstGeom prst="roundRect">
            <a:avLst>
              <a:gd name="adj" fmla="val 28571"/>
            </a:avLst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85800" y="6035040"/>
            <a:ext cx="4754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DB</a:t>
            </a:r>
            <a:endParaRPr lang="en-US" sz="950" dirty="0"/>
          </a:p>
        </p:txBody>
      </p:sp>
      <p:sp>
        <p:nvSpPr>
          <p:cNvPr id="25" name="Text 22"/>
          <p:cNvSpPr txBox="1"/>
          <p:nvPr/>
        </p:nvSpPr>
        <p:spPr>
          <a:xfrm>
            <a:off x="1280160" y="6016752"/>
            <a:ext cx="101800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complaint UPDATE (status, resolution_content, resolution_minutes, completed_at) · photo INSERT (RESOLUTION) · history INSERT (COMPLETE)</a:t>
            </a:r>
            <a:endParaRPr lang="en-US" sz="1050" dirty="0"/>
          </a:p>
        </p:txBody>
      </p:sp>
      <p:sp>
        <p:nvSpPr>
          <p:cNvPr id="26" name="Text 23"/>
          <p:cNvSpPr txBox="1"/>
          <p:nvPr/>
        </p:nvSpPr>
        <p:spPr>
          <a:xfrm>
            <a:off x="502920" y="64465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UI 흐름 · W-06 처리 결과 등록</a:t>
            </a:r>
            <a:endParaRPr lang="en-US" sz="900" dirty="0"/>
          </a:p>
        </p:txBody>
      </p:sp>
      <p:sp>
        <p:nvSpPr>
          <p:cNvPr id="27" name="Text 24"/>
          <p:cNvSpPr txBox="1"/>
          <p:nvPr/>
        </p:nvSpPr>
        <p:spPr>
          <a:xfrm>
            <a:off x="10957255" y="6446520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9144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5BE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03 UI 흐름 · 시설물 관리 소장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12064"/>
            <a:ext cx="1118585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A-01  운영 대시보드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932688"/>
            <a:ext cx="111858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개입이 필요한 시점을 판단하는 화면. 강제 배정 경로의 전제 조건이다.</a:t>
            </a:r>
            <a:endParaRPr lang="en-US" sz="1200" dirty="0"/>
          </a:p>
        </p:txBody>
      </p:sp>
      <p:pic>
        <p:nvPicPr>
          <p:cNvPr id="5" name="Image 0" descr="/Users/smoh/my-workspace/WebMiniProject/docs/img/pc/A-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601082"/>
            <a:ext cx="7269480" cy="3811285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891272" y="1982210"/>
            <a:ext cx="347472" cy="0"/>
          </a:xfrm>
          <a:prstGeom prst="line">
            <a:avLst/>
          </a:prstGeom>
          <a:noFill/>
          <a:ln w="15875">
            <a:solidFill>
              <a:srgbClr val="C81E1E"/>
            </a:solidFill>
            <a:prstDash val="solid"/>
            <a:headEnd type="triangle"/>
          </a:ln>
        </p:spPr>
      </p:sp>
      <p:sp>
        <p:nvSpPr>
          <p:cNvPr id="7" name="Shape 4"/>
          <p:cNvSpPr/>
          <p:nvPr/>
        </p:nvSpPr>
        <p:spPr>
          <a:xfrm>
            <a:off x="8293608" y="1589018"/>
            <a:ext cx="3395167" cy="786384"/>
          </a:xfrm>
          <a:prstGeom prst="roundRect">
            <a:avLst>
              <a:gd name="adj" fmla="val 6977"/>
            </a:avLst>
          </a:prstGeom>
          <a:solidFill>
            <a:srgbClr val="FDF0F0"/>
          </a:solidFill>
          <a:ln w="12700">
            <a:solidFill>
              <a:srgbClr val="FDF0F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494776" y="1671314"/>
            <a:ext cx="299283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81E1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GET /dashboard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8494776" y="1936490"/>
            <a:ext cx="299283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집계·지연 목록·작업자 현황을 한 번의 호출로 반환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7891272" y="2887466"/>
            <a:ext cx="347472" cy="0"/>
          </a:xfrm>
          <a:prstGeom prst="line">
            <a:avLst/>
          </a:prstGeom>
          <a:noFill/>
          <a:ln w="15875">
            <a:solidFill>
              <a:srgbClr val="15803D"/>
            </a:solidFill>
            <a:prstDash val="solid"/>
            <a:headEnd type="triangle"/>
          </a:ln>
        </p:spPr>
      </p:sp>
      <p:sp>
        <p:nvSpPr>
          <p:cNvPr id="11" name="Shape 8"/>
          <p:cNvSpPr/>
          <p:nvPr/>
        </p:nvSpPr>
        <p:spPr>
          <a:xfrm>
            <a:off x="8293608" y="2494274"/>
            <a:ext cx="3395167" cy="786384"/>
          </a:xfrm>
          <a:prstGeom prst="roundRect">
            <a:avLst>
              <a:gd name="adj" fmla="val 6977"/>
            </a:avLst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494776" y="2576570"/>
            <a:ext cx="299283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803D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상태별 집계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8494776" y="2841746"/>
            <a:ext cx="299283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접수됨 / 처리중 / 선점 지연 / 오늘 완료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7891272" y="3792722"/>
            <a:ext cx="347472" cy="0"/>
          </a:xfrm>
          <a:prstGeom prst="line">
            <a:avLst/>
          </a:prstGeom>
          <a:noFill/>
          <a:ln w="15875">
            <a:solidFill>
              <a:srgbClr val="9A5B08"/>
            </a:solidFill>
            <a:prstDash val="solid"/>
            <a:headEnd type="triangle"/>
          </a:ln>
        </p:spPr>
      </p:sp>
      <p:sp>
        <p:nvSpPr>
          <p:cNvPr id="15" name="Shape 12"/>
          <p:cNvSpPr/>
          <p:nvPr/>
        </p:nvSpPr>
        <p:spPr>
          <a:xfrm>
            <a:off x="8293608" y="3399530"/>
            <a:ext cx="3395167" cy="786384"/>
          </a:xfrm>
          <a:prstGeom prst="roundRect">
            <a:avLst>
              <a:gd name="adj" fmla="val 6977"/>
            </a:avLst>
          </a:prstGeom>
          <a:solidFill>
            <a:srgbClr val="FDF4E3"/>
          </a:solidFill>
          <a:ln w="12700">
            <a:solidFill>
              <a:srgbClr val="FDF4E3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94776" y="3481826"/>
            <a:ext cx="299283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5B0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개입이 필요한 민원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8494776" y="3747002"/>
            <a:ext cx="299283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P-02 지연 판정 결과. 강제 배정을 언제 쓸지의 기준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7891272" y="4764448"/>
            <a:ext cx="347472" cy="0"/>
          </a:xfrm>
          <a:prstGeom prst="line">
            <a:avLst/>
          </a:prstGeom>
          <a:noFill/>
          <a:ln w="15875">
            <a:solidFill>
              <a:srgbClr val="15803D"/>
            </a:solidFill>
            <a:prstDash val="solid"/>
            <a:headEnd type="triangle"/>
          </a:ln>
        </p:spPr>
      </p:sp>
      <p:sp>
        <p:nvSpPr>
          <p:cNvPr id="19" name="Shape 16"/>
          <p:cNvSpPr/>
          <p:nvPr/>
        </p:nvSpPr>
        <p:spPr>
          <a:xfrm>
            <a:off x="8293608" y="4371256"/>
            <a:ext cx="3395167" cy="786384"/>
          </a:xfrm>
          <a:prstGeom prst="roundRect">
            <a:avLst>
              <a:gd name="adj" fmla="val 6977"/>
            </a:avLst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8494776" y="4453552"/>
            <a:ext cx="299283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803D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작업자별 보유 현황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8494776" y="4718728"/>
            <a:ext cx="299283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보유 건수만 표시. 상태 모델에 ASSIGNED 가 없어 진행/대기 구분은 만들 수 없다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502920" y="5870448"/>
            <a:ext cx="11185855" cy="512064"/>
          </a:xfrm>
          <a:prstGeom prst="roundRect">
            <a:avLst>
              <a:gd name="adj" fmla="val 10714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85800" y="5998464"/>
            <a:ext cx="475488" cy="256032"/>
          </a:xfrm>
          <a:prstGeom prst="roundRect">
            <a:avLst>
              <a:gd name="adj" fmla="val 28571"/>
            </a:avLst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85800" y="6035040"/>
            <a:ext cx="4754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DB</a:t>
            </a:r>
            <a:endParaRPr lang="en-US" sz="950" dirty="0"/>
          </a:p>
        </p:txBody>
      </p:sp>
      <p:sp>
        <p:nvSpPr>
          <p:cNvPr id="25" name="Text 22"/>
          <p:cNvSpPr txBox="1"/>
          <p:nvPr/>
        </p:nvSpPr>
        <p:spPr>
          <a:xfrm>
            <a:off x="1280160" y="6016752"/>
            <a:ext cx="101800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complaint GROUP BY status · assignee_id COUNT</a:t>
            </a:r>
            <a:endParaRPr lang="en-US" sz="1050" dirty="0"/>
          </a:p>
        </p:txBody>
      </p:sp>
      <p:sp>
        <p:nvSpPr>
          <p:cNvPr id="26" name="Text 23"/>
          <p:cNvSpPr txBox="1"/>
          <p:nvPr/>
        </p:nvSpPr>
        <p:spPr>
          <a:xfrm>
            <a:off x="502920" y="64465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UI 흐름 · A-01 운영 대시보드</a:t>
            </a:r>
            <a:endParaRPr lang="en-US" sz="900" dirty="0"/>
          </a:p>
        </p:txBody>
      </p:sp>
      <p:sp>
        <p:nvSpPr>
          <p:cNvPr id="27" name="Text 24"/>
          <p:cNvSpPr txBox="1"/>
          <p:nvPr/>
        </p:nvSpPr>
        <p:spPr>
          <a:xfrm>
            <a:off x="10957255" y="6446520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9144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5BE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03 UI 흐름 · 시설물 관리 소장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12064"/>
            <a:ext cx="1118585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A-02  전체 민원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932688"/>
            <a:ext cx="111858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목록 엔드포인트 하나가 작업자·관리자 네 화면을 담당한다.</a:t>
            </a:r>
            <a:endParaRPr lang="en-US" sz="1200" dirty="0"/>
          </a:p>
        </p:txBody>
      </p:sp>
      <p:pic>
        <p:nvPicPr>
          <p:cNvPr id="5" name="Image 0" descr="/Users/smoh/my-workspace/WebMiniProject/docs/img/pc/A-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667286"/>
            <a:ext cx="7269480" cy="3678876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891272" y="2329484"/>
            <a:ext cx="347472" cy="0"/>
          </a:xfrm>
          <a:prstGeom prst="line">
            <a:avLst/>
          </a:prstGeom>
          <a:noFill/>
          <a:ln w="15875">
            <a:solidFill>
              <a:srgbClr val="C81E1E"/>
            </a:solidFill>
            <a:prstDash val="solid"/>
            <a:headEnd type="triangle"/>
          </a:ln>
        </p:spPr>
      </p:sp>
      <p:sp>
        <p:nvSpPr>
          <p:cNvPr id="7" name="Shape 4"/>
          <p:cNvSpPr/>
          <p:nvPr/>
        </p:nvSpPr>
        <p:spPr>
          <a:xfrm>
            <a:off x="8293608" y="1936292"/>
            <a:ext cx="3395167" cy="786384"/>
          </a:xfrm>
          <a:prstGeom prst="roundRect">
            <a:avLst>
              <a:gd name="adj" fmla="val 6977"/>
            </a:avLst>
          </a:prstGeom>
          <a:solidFill>
            <a:srgbClr val="FDF0F0"/>
          </a:solidFill>
          <a:ln w="12700">
            <a:solidFill>
              <a:srgbClr val="FDF0F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494776" y="2018588"/>
            <a:ext cx="299283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81E1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GET /complaints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8494776" y="2283764"/>
            <a:ext cx="299283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status · categoryCode · floorNo · priority · delayed · keyword 조합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7891272" y="3234740"/>
            <a:ext cx="347472" cy="0"/>
          </a:xfrm>
          <a:prstGeom prst="line">
            <a:avLst/>
          </a:prstGeom>
          <a:noFill/>
          <a:ln w="15875">
            <a:solidFill>
              <a:srgbClr val="15803D"/>
            </a:solidFill>
            <a:prstDash val="solid"/>
            <a:headEnd type="triangle"/>
          </a:ln>
        </p:spPr>
      </p:sp>
      <p:sp>
        <p:nvSpPr>
          <p:cNvPr id="11" name="Shape 8"/>
          <p:cNvSpPr/>
          <p:nvPr/>
        </p:nvSpPr>
        <p:spPr>
          <a:xfrm>
            <a:off x="8293608" y="2841548"/>
            <a:ext cx="3395167" cy="786384"/>
          </a:xfrm>
          <a:prstGeom prst="roundRect">
            <a:avLst>
              <a:gd name="adj" fmla="val 6977"/>
            </a:avLst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494776" y="2923844"/>
            <a:ext cx="299283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803D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담당자 표시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8494776" y="3189020"/>
            <a:ext cx="299283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assignee_id → user_account.name. 미배정은 공란으로 구분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502920" y="5870448"/>
            <a:ext cx="11185855" cy="512064"/>
          </a:xfrm>
          <a:prstGeom prst="roundRect">
            <a:avLst>
              <a:gd name="adj" fmla="val 10714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685800" y="5998464"/>
            <a:ext cx="475488" cy="256032"/>
          </a:xfrm>
          <a:prstGeom prst="roundRect">
            <a:avLst>
              <a:gd name="adj" fmla="val 28571"/>
            </a:avLst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85800" y="6035040"/>
            <a:ext cx="4754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DB</a:t>
            </a:r>
            <a:endParaRPr lang="en-US" sz="950" dirty="0"/>
          </a:p>
        </p:txBody>
      </p:sp>
      <p:sp>
        <p:nvSpPr>
          <p:cNvPr id="17" name="Text 14"/>
          <p:cNvSpPr txBox="1"/>
          <p:nvPr/>
        </p:nvSpPr>
        <p:spPr>
          <a:xfrm>
            <a:off x="1280160" y="6016752"/>
            <a:ext cx="101800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질의 조건만 달리해 W-02 · W-05 · A-02 · A-01(지연) 을 모두 처리한다</a:t>
            </a:r>
            <a:endParaRPr lang="en-US" sz="1050" dirty="0"/>
          </a:p>
        </p:txBody>
      </p:sp>
      <p:sp>
        <p:nvSpPr>
          <p:cNvPr id="18" name="Text 15"/>
          <p:cNvSpPr txBox="1"/>
          <p:nvPr/>
        </p:nvSpPr>
        <p:spPr>
          <a:xfrm>
            <a:off x="502920" y="64465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UI 흐름 · A-02 전체 민원</a:t>
            </a:r>
            <a:endParaRPr lang="en-US" sz="900" dirty="0"/>
          </a:p>
        </p:txBody>
      </p:sp>
      <p:sp>
        <p:nvSpPr>
          <p:cNvPr id="19" name="Text 16"/>
          <p:cNvSpPr txBox="1"/>
          <p:nvPr/>
        </p:nvSpPr>
        <p:spPr>
          <a:xfrm>
            <a:off x="10957255" y="6446520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9144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5BE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03 UI 흐름 · 시설물 관리 소장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12064"/>
            <a:ext cx="1118585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A-03  민원 상세 · 관리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932688"/>
            <a:ext cx="111858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관리소장은 분류 정보만 고칠 수 있다. 신고 원문은 신고자의 진술 기록이다.</a:t>
            </a:r>
            <a:endParaRPr lang="en-US" sz="1200" dirty="0"/>
          </a:p>
        </p:txBody>
      </p:sp>
      <p:pic>
        <p:nvPicPr>
          <p:cNvPr id="5" name="Image 0" descr="/Users/smoh/my-workspace/WebMiniProject/docs/img/pc/A-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243584"/>
            <a:ext cx="5681523" cy="45262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303315" y="3416198"/>
            <a:ext cx="347472" cy="0"/>
          </a:xfrm>
          <a:prstGeom prst="line">
            <a:avLst/>
          </a:prstGeom>
          <a:noFill/>
          <a:ln w="15875">
            <a:solidFill>
              <a:srgbClr val="C81E1E"/>
            </a:solidFill>
            <a:prstDash val="solid"/>
            <a:headEnd type="triangle"/>
          </a:ln>
        </p:spPr>
      </p:sp>
      <p:sp>
        <p:nvSpPr>
          <p:cNvPr id="7" name="Shape 4"/>
          <p:cNvSpPr/>
          <p:nvPr/>
        </p:nvSpPr>
        <p:spPr>
          <a:xfrm>
            <a:off x="6705651" y="3023006"/>
            <a:ext cx="4983124" cy="786384"/>
          </a:xfrm>
          <a:prstGeom prst="roundRect">
            <a:avLst>
              <a:gd name="adj" fmla="val 6977"/>
            </a:avLst>
          </a:prstGeom>
          <a:solidFill>
            <a:srgbClr val="FDF0F0"/>
          </a:solidFill>
          <a:ln w="12700">
            <a:solidFill>
              <a:srgbClr val="FDF0F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906819" y="3105302"/>
            <a:ext cx="45807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81E1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PATCH .../classification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6906819" y="3370478"/>
            <a:ext cx="45807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위치·카테고리·우선순위만 수정. 상태와 무관하게 가능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6303315" y="4321454"/>
            <a:ext cx="347472" cy="0"/>
          </a:xfrm>
          <a:prstGeom prst="line">
            <a:avLst/>
          </a:prstGeom>
          <a:noFill/>
          <a:ln w="15875">
            <a:solidFill>
              <a:srgbClr val="9A5B08"/>
            </a:solidFill>
            <a:prstDash val="solid"/>
            <a:headEnd type="triangle"/>
          </a:ln>
        </p:spPr>
      </p:sp>
      <p:sp>
        <p:nvSpPr>
          <p:cNvPr id="11" name="Shape 8"/>
          <p:cNvSpPr/>
          <p:nvPr/>
        </p:nvSpPr>
        <p:spPr>
          <a:xfrm>
            <a:off x="6705651" y="3928262"/>
            <a:ext cx="4983124" cy="786384"/>
          </a:xfrm>
          <a:prstGeom prst="roundRect">
            <a:avLst>
              <a:gd name="adj" fmla="val 6977"/>
            </a:avLst>
          </a:prstGeom>
          <a:solidFill>
            <a:srgbClr val="FDF4E3"/>
          </a:solidFill>
          <a:ln w="12700">
            <a:solidFill>
              <a:srgbClr val="FDF4E3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906819" y="4010558"/>
            <a:ext cx="45807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5B0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원문 수정 불가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6906819" y="4275734"/>
            <a:ext cx="45807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관리자가 신고 내용을 바꿀 수 있으면 이력 기반이라는 전제가 무너진다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6303315" y="5226710"/>
            <a:ext cx="347472" cy="0"/>
          </a:xfrm>
          <a:prstGeom prst="line">
            <a:avLst/>
          </a:prstGeom>
          <a:noFill/>
          <a:ln w="15875">
            <a:solidFill>
              <a:srgbClr val="C81E1E"/>
            </a:solidFill>
            <a:prstDash val="solid"/>
            <a:headEnd type="triangle"/>
          </a:ln>
        </p:spPr>
      </p:sp>
      <p:sp>
        <p:nvSpPr>
          <p:cNvPr id="15" name="Shape 12"/>
          <p:cNvSpPr/>
          <p:nvPr/>
        </p:nvSpPr>
        <p:spPr>
          <a:xfrm>
            <a:off x="6705651" y="4833518"/>
            <a:ext cx="4983124" cy="786384"/>
          </a:xfrm>
          <a:prstGeom prst="roundRect">
            <a:avLst>
              <a:gd name="adj" fmla="val 6977"/>
            </a:avLst>
          </a:prstGeom>
          <a:solidFill>
            <a:srgbClr val="FDF0F0"/>
          </a:solidFill>
          <a:ln w="12700">
            <a:solidFill>
              <a:srgbClr val="FDF0F0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906819" y="4915814"/>
            <a:ext cx="45807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81E1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POST / DELETE .../assignment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6906819" y="5180990"/>
            <a:ext cx="45807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배정을 하위 리소스로 보고 생성·삭제로 표현. 재배정 / 회수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502920" y="5870448"/>
            <a:ext cx="11185855" cy="512064"/>
          </a:xfrm>
          <a:prstGeom prst="roundRect">
            <a:avLst>
              <a:gd name="adj" fmla="val 10714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85800" y="5998464"/>
            <a:ext cx="475488" cy="256032"/>
          </a:xfrm>
          <a:prstGeom prst="roundRect">
            <a:avLst>
              <a:gd name="adj" fmla="val 28571"/>
            </a:avLst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85800" y="6035040"/>
            <a:ext cx="4754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DB</a:t>
            </a:r>
            <a:endParaRPr lang="en-US" sz="950" dirty="0"/>
          </a:p>
        </p:txBody>
      </p:sp>
      <p:sp>
        <p:nvSpPr>
          <p:cNvPr id="21" name="Text 18"/>
          <p:cNvSpPr txBox="1"/>
          <p:nvPr/>
        </p:nvSpPr>
        <p:spPr>
          <a:xfrm>
            <a:off x="1280160" y="6016752"/>
            <a:ext cx="101800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complaint UPDATE (분류 컬럼) · history INSERT (UPDATE_CLASSIFICATION, note=변경 필드)</a:t>
            </a:r>
            <a:endParaRPr lang="en-US" sz="1050" dirty="0"/>
          </a:p>
        </p:txBody>
      </p:sp>
      <p:sp>
        <p:nvSpPr>
          <p:cNvPr id="22" name="Text 19"/>
          <p:cNvSpPr txBox="1"/>
          <p:nvPr/>
        </p:nvSpPr>
        <p:spPr>
          <a:xfrm>
            <a:off x="502920" y="64465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UI 흐름 · A-03 민원 상세 · 관리</a:t>
            </a:r>
            <a:endParaRPr lang="en-US" sz="900" dirty="0"/>
          </a:p>
        </p:txBody>
      </p:sp>
      <p:sp>
        <p:nvSpPr>
          <p:cNvPr id="23" name="Text 20"/>
          <p:cNvSpPr txBox="1"/>
          <p:nvPr/>
        </p:nvSpPr>
        <p:spPr>
          <a:xfrm>
            <a:off x="10957255" y="6446520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25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9144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5BE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03 UI 흐름 · 시설물 관리 소장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12064"/>
            <a:ext cx="1118585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A-04  강제 배정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932688"/>
            <a:ext cx="111858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아무도 선점하지 않은 건을 소장이 직접 배정하는 예외 경로.</a:t>
            </a:r>
            <a:endParaRPr lang="en-US" sz="1200" dirty="0"/>
          </a:p>
        </p:txBody>
      </p:sp>
      <p:pic>
        <p:nvPicPr>
          <p:cNvPr id="5" name="Image 0" descr="/Users/smoh/my-workspace/WebMiniProject/docs/img/pc/A-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243584"/>
            <a:ext cx="5975287" cy="45262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597079" y="3144622"/>
            <a:ext cx="347472" cy="0"/>
          </a:xfrm>
          <a:prstGeom prst="line">
            <a:avLst/>
          </a:prstGeom>
          <a:noFill/>
          <a:ln w="15875">
            <a:solidFill>
              <a:srgbClr val="C81E1E"/>
            </a:solidFill>
            <a:prstDash val="solid"/>
            <a:headEnd type="triangle"/>
          </a:ln>
        </p:spPr>
      </p:sp>
      <p:sp>
        <p:nvSpPr>
          <p:cNvPr id="7" name="Shape 4"/>
          <p:cNvSpPr/>
          <p:nvPr/>
        </p:nvSpPr>
        <p:spPr>
          <a:xfrm>
            <a:off x="6999415" y="2751430"/>
            <a:ext cx="4689360" cy="786384"/>
          </a:xfrm>
          <a:prstGeom prst="roundRect">
            <a:avLst>
              <a:gd name="adj" fmla="val 6977"/>
            </a:avLst>
          </a:prstGeom>
          <a:solidFill>
            <a:srgbClr val="FDF0F0"/>
          </a:solidFill>
          <a:ln w="12700">
            <a:solidFill>
              <a:srgbClr val="FDF0F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200583" y="2833726"/>
            <a:ext cx="4287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81E1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GET /workers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7200583" y="3098902"/>
            <a:ext cx="42870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작업자별 담당 카테고리와 현재 보유 건수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6597079" y="4049878"/>
            <a:ext cx="347472" cy="0"/>
          </a:xfrm>
          <a:prstGeom prst="line">
            <a:avLst/>
          </a:prstGeom>
          <a:noFill/>
          <a:ln w="15875">
            <a:solidFill>
              <a:srgbClr val="15803D"/>
            </a:solidFill>
            <a:prstDash val="solid"/>
            <a:headEnd type="triangle"/>
          </a:ln>
        </p:spPr>
      </p:sp>
      <p:sp>
        <p:nvSpPr>
          <p:cNvPr id="11" name="Shape 8"/>
          <p:cNvSpPr/>
          <p:nvPr/>
        </p:nvSpPr>
        <p:spPr>
          <a:xfrm>
            <a:off x="6999415" y="3656686"/>
            <a:ext cx="4689360" cy="786384"/>
          </a:xfrm>
          <a:prstGeom prst="roundRect">
            <a:avLst>
              <a:gd name="adj" fmla="val 6977"/>
            </a:avLst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200583" y="3738982"/>
            <a:ext cx="4287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803D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쏠림 판단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7200583" y="4004158"/>
            <a:ext cx="42870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보유 건수를 보고 고른다. 상한 정책 대신 사람이 판단 (9.3)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6597079" y="5385816"/>
            <a:ext cx="347472" cy="0"/>
          </a:xfrm>
          <a:prstGeom prst="line">
            <a:avLst/>
          </a:prstGeom>
          <a:noFill/>
          <a:ln w="15875">
            <a:solidFill>
              <a:srgbClr val="C81E1E"/>
            </a:solidFill>
            <a:prstDash val="solid"/>
            <a:headEnd type="triangle"/>
          </a:ln>
        </p:spPr>
      </p:sp>
      <p:sp>
        <p:nvSpPr>
          <p:cNvPr id="15" name="Shape 12"/>
          <p:cNvSpPr/>
          <p:nvPr/>
        </p:nvSpPr>
        <p:spPr>
          <a:xfrm>
            <a:off x="6999415" y="4992624"/>
            <a:ext cx="4689360" cy="786384"/>
          </a:xfrm>
          <a:prstGeom prst="roundRect">
            <a:avLst>
              <a:gd name="adj" fmla="val 6977"/>
            </a:avLst>
          </a:prstGeom>
          <a:solidFill>
            <a:srgbClr val="FDF0F0"/>
          </a:solidFill>
          <a:ln w="12700">
            <a:solidFill>
              <a:srgbClr val="FDF0F0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200583" y="5074920"/>
            <a:ext cx="4287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81E1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POST .../assignment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7200583" y="5340096"/>
            <a:ext cx="42870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404 WORKER_NOT_FOUND / 409 INVALID_STATE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502920" y="5870448"/>
            <a:ext cx="11185855" cy="512064"/>
          </a:xfrm>
          <a:prstGeom prst="roundRect">
            <a:avLst>
              <a:gd name="adj" fmla="val 10714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85800" y="5998464"/>
            <a:ext cx="475488" cy="256032"/>
          </a:xfrm>
          <a:prstGeom prst="roundRect">
            <a:avLst>
              <a:gd name="adj" fmla="val 28571"/>
            </a:avLst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85800" y="6035040"/>
            <a:ext cx="4754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DB</a:t>
            </a:r>
            <a:endParaRPr lang="en-US" sz="950" dirty="0"/>
          </a:p>
        </p:txBody>
      </p:sp>
      <p:sp>
        <p:nvSpPr>
          <p:cNvPr id="21" name="Text 18"/>
          <p:cNvSpPr txBox="1"/>
          <p:nvPr/>
        </p:nvSpPr>
        <p:spPr>
          <a:xfrm>
            <a:off x="1280160" y="6016752"/>
            <a:ext cx="101800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complaint UPDATE (assignee_id, assigned_at) · history INSERT (ASSIGN / REASSIGN)</a:t>
            </a:r>
            <a:endParaRPr lang="en-US" sz="1050" dirty="0"/>
          </a:p>
        </p:txBody>
      </p:sp>
      <p:sp>
        <p:nvSpPr>
          <p:cNvPr id="22" name="Text 19"/>
          <p:cNvSpPr txBox="1"/>
          <p:nvPr/>
        </p:nvSpPr>
        <p:spPr>
          <a:xfrm>
            <a:off x="502920" y="64465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UI 흐름 · A-04 강제 배정</a:t>
            </a:r>
            <a:endParaRPr lang="en-US" sz="900" dirty="0"/>
          </a:p>
        </p:txBody>
      </p:sp>
      <p:sp>
        <p:nvSpPr>
          <p:cNvPr id="23" name="Text 20"/>
          <p:cNvSpPr txBox="1"/>
          <p:nvPr/>
        </p:nvSpPr>
        <p:spPr>
          <a:xfrm>
            <a:off x="10957255" y="6446520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26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9144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5BE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03 UI 흐름 · 시설물 관리 소장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12064"/>
            <a:ext cx="1118585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A-05  민원 반려 · 중복 연결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932688"/>
            <a:ext cx="111858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중복은 사전 탐지가 아니라 사후 정리로 처리한다. (D-01)</a:t>
            </a:r>
            <a:endParaRPr lang="en-US" sz="1200" dirty="0"/>
          </a:p>
        </p:txBody>
      </p:sp>
      <p:pic>
        <p:nvPicPr>
          <p:cNvPr id="5" name="Image 0" descr="/Users/smoh/my-workspace/WebMiniProject/docs/img/pc/A-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243584"/>
            <a:ext cx="7008434" cy="45262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630226" y="2239366"/>
            <a:ext cx="347472" cy="0"/>
          </a:xfrm>
          <a:prstGeom prst="line">
            <a:avLst/>
          </a:prstGeom>
          <a:noFill/>
          <a:ln w="15875">
            <a:solidFill>
              <a:srgbClr val="15803D"/>
            </a:solidFill>
            <a:prstDash val="solid"/>
            <a:headEnd type="triangle"/>
          </a:ln>
        </p:spPr>
      </p:sp>
      <p:sp>
        <p:nvSpPr>
          <p:cNvPr id="7" name="Shape 4"/>
          <p:cNvSpPr/>
          <p:nvPr/>
        </p:nvSpPr>
        <p:spPr>
          <a:xfrm>
            <a:off x="8032562" y="1846174"/>
            <a:ext cx="3656214" cy="786384"/>
          </a:xfrm>
          <a:prstGeom prst="roundRect">
            <a:avLst>
              <a:gd name="adj" fmla="val 6977"/>
            </a:avLst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233730" y="1928470"/>
            <a:ext cx="325387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803D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반려 사유 유형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8233730" y="2193646"/>
            <a:ext cx="325387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DUPLICATE / OUT_OF_SCOPE / INVALID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7630226" y="3733038"/>
            <a:ext cx="347472" cy="0"/>
          </a:xfrm>
          <a:prstGeom prst="line">
            <a:avLst/>
          </a:prstGeom>
          <a:noFill/>
          <a:ln w="15875">
            <a:solidFill>
              <a:srgbClr val="C81E1E"/>
            </a:solidFill>
            <a:prstDash val="solid"/>
            <a:headEnd type="triangle"/>
          </a:ln>
        </p:spPr>
      </p:sp>
      <p:sp>
        <p:nvSpPr>
          <p:cNvPr id="11" name="Shape 8"/>
          <p:cNvSpPr/>
          <p:nvPr/>
        </p:nvSpPr>
        <p:spPr>
          <a:xfrm>
            <a:off x="8032562" y="3339846"/>
            <a:ext cx="3656214" cy="786384"/>
          </a:xfrm>
          <a:prstGeom prst="roundRect">
            <a:avLst>
              <a:gd name="adj" fmla="val 6977"/>
            </a:avLst>
          </a:prstGeom>
          <a:solidFill>
            <a:srgbClr val="FDF0F0"/>
          </a:solidFill>
          <a:ln w="12700">
            <a:solidFill>
              <a:srgbClr val="FDF0F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233730" y="3422142"/>
            <a:ext cx="325387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81E1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GET /complaints?keyword=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8233730" y="3687318"/>
            <a:ext cx="325387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원본 민원 검색. 제목 또는 민원 번호 부분 일치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7630226" y="5385816"/>
            <a:ext cx="347472" cy="0"/>
          </a:xfrm>
          <a:prstGeom prst="line">
            <a:avLst/>
          </a:prstGeom>
          <a:noFill/>
          <a:ln w="15875">
            <a:solidFill>
              <a:srgbClr val="C81E1E"/>
            </a:solidFill>
            <a:prstDash val="solid"/>
            <a:headEnd type="triangle"/>
          </a:ln>
        </p:spPr>
      </p:sp>
      <p:sp>
        <p:nvSpPr>
          <p:cNvPr id="15" name="Shape 12"/>
          <p:cNvSpPr/>
          <p:nvPr/>
        </p:nvSpPr>
        <p:spPr>
          <a:xfrm>
            <a:off x="8032562" y="4992624"/>
            <a:ext cx="3656214" cy="786384"/>
          </a:xfrm>
          <a:prstGeom prst="roundRect">
            <a:avLst>
              <a:gd name="adj" fmla="val 6977"/>
            </a:avLst>
          </a:prstGeom>
          <a:solidFill>
            <a:srgbClr val="FDF0F0"/>
          </a:solidFill>
          <a:ln w="12700">
            <a:solidFill>
              <a:srgbClr val="FDF0F0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233730" y="5074920"/>
            <a:ext cx="325387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81E1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POST .../rejection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8233730" y="5340096"/>
            <a:ext cx="325387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중복이면 원본 연결 필수. 400 ORIGINAL_REQUIRED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502920" y="5870448"/>
            <a:ext cx="11185855" cy="512064"/>
          </a:xfrm>
          <a:prstGeom prst="roundRect">
            <a:avLst>
              <a:gd name="adj" fmla="val 10714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85800" y="5998464"/>
            <a:ext cx="475488" cy="256032"/>
          </a:xfrm>
          <a:prstGeom prst="roundRect">
            <a:avLst>
              <a:gd name="adj" fmla="val 28571"/>
            </a:avLst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85800" y="6035040"/>
            <a:ext cx="4754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DB</a:t>
            </a:r>
            <a:endParaRPr lang="en-US" sz="950" dirty="0"/>
          </a:p>
        </p:txBody>
      </p:sp>
      <p:sp>
        <p:nvSpPr>
          <p:cNvPr id="21" name="Text 18"/>
          <p:cNvSpPr txBox="1"/>
          <p:nvPr/>
        </p:nvSpPr>
        <p:spPr>
          <a:xfrm>
            <a:off x="1280160" y="6016752"/>
            <a:ext cx="101800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complaint UPDATE (rejection_type, rejection_reason, original_complaint_id — complaint 자기참조)</a:t>
            </a:r>
            <a:endParaRPr lang="en-US" sz="1050" dirty="0"/>
          </a:p>
        </p:txBody>
      </p:sp>
      <p:sp>
        <p:nvSpPr>
          <p:cNvPr id="22" name="Text 19"/>
          <p:cNvSpPr txBox="1"/>
          <p:nvPr/>
        </p:nvSpPr>
        <p:spPr>
          <a:xfrm>
            <a:off x="502920" y="64465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UI 흐름 · A-05 민원 반려 · 중복 연결</a:t>
            </a:r>
            <a:endParaRPr lang="en-US" sz="900" dirty="0"/>
          </a:p>
        </p:txBody>
      </p:sp>
      <p:sp>
        <p:nvSpPr>
          <p:cNvPr id="23" name="Text 20"/>
          <p:cNvSpPr txBox="1"/>
          <p:nvPr/>
        </p:nvSpPr>
        <p:spPr>
          <a:xfrm>
            <a:off x="10957255" y="6446520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27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9144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5BE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03 UI 흐름 · 시설물 관리 소장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12064"/>
            <a:ext cx="1118585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A-06  민원 통계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932688"/>
            <a:ext cx="111858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정기 정비 요청의 수치 근거. AS-01 이 해소되는 지점이다.</a:t>
            </a:r>
            <a:endParaRPr lang="en-US" sz="1200" dirty="0"/>
          </a:p>
        </p:txBody>
      </p:sp>
      <p:pic>
        <p:nvPicPr>
          <p:cNvPr id="5" name="Image 0" descr="/Users/smoh/my-workspace/WebMiniProject/docs/img/pc/A-0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868495"/>
            <a:ext cx="7269480" cy="327645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891272" y="2392728"/>
            <a:ext cx="347472" cy="0"/>
          </a:xfrm>
          <a:prstGeom prst="line">
            <a:avLst/>
          </a:prstGeom>
          <a:noFill/>
          <a:ln w="15875">
            <a:solidFill>
              <a:srgbClr val="C81E1E"/>
            </a:solidFill>
            <a:prstDash val="solid"/>
            <a:headEnd type="triangle"/>
          </a:ln>
        </p:spPr>
      </p:sp>
      <p:sp>
        <p:nvSpPr>
          <p:cNvPr id="7" name="Shape 4"/>
          <p:cNvSpPr/>
          <p:nvPr/>
        </p:nvSpPr>
        <p:spPr>
          <a:xfrm>
            <a:off x="8293608" y="1999536"/>
            <a:ext cx="3395167" cy="786384"/>
          </a:xfrm>
          <a:prstGeom prst="roundRect">
            <a:avLst>
              <a:gd name="adj" fmla="val 6977"/>
            </a:avLst>
          </a:prstGeom>
          <a:solidFill>
            <a:srgbClr val="FDF0F0"/>
          </a:solidFill>
          <a:ln w="12700">
            <a:solidFill>
              <a:srgbClr val="FDF0F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494776" y="2081832"/>
            <a:ext cx="299283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81E1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GET /statistics?from&amp;to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8494776" y="2347008"/>
            <a:ext cx="299283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기간 미지정 시 전체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7891272" y="3297984"/>
            <a:ext cx="347472" cy="0"/>
          </a:xfrm>
          <a:prstGeom prst="line">
            <a:avLst/>
          </a:prstGeom>
          <a:noFill/>
          <a:ln w="15875">
            <a:solidFill>
              <a:srgbClr val="15803D"/>
            </a:solidFill>
            <a:prstDash val="solid"/>
            <a:headEnd type="triangle"/>
          </a:ln>
        </p:spPr>
      </p:sp>
      <p:sp>
        <p:nvSpPr>
          <p:cNvPr id="11" name="Shape 8"/>
          <p:cNvSpPr/>
          <p:nvPr/>
        </p:nvSpPr>
        <p:spPr>
          <a:xfrm>
            <a:off x="8293608" y="2904792"/>
            <a:ext cx="3395167" cy="786384"/>
          </a:xfrm>
          <a:prstGeom prst="roundRect">
            <a:avLst>
              <a:gd name="adj" fmla="val 6977"/>
            </a:avLst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494776" y="2987088"/>
            <a:ext cx="299283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803D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평균 처리 시간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8494776" y="3252264"/>
            <a:ext cx="299283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complaint_history 의 REGISTER ~ COMPLETE 간격으로 산출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7891272" y="4203240"/>
            <a:ext cx="347472" cy="0"/>
          </a:xfrm>
          <a:prstGeom prst="line">
            <a:avLst/>
          </a:prstGeom>
          <a:noFill/>
          <a:ln w="15875">
            <a:solidFill>
              <a:srgbClr val="15803D"/>
            </a:solidFill>
            <a:prstDash val="solid"/>
            <a:headEnd type="triangle"/>
          </a:ln>
        </p:spPr>
      </p:sp>
      <p:sp>
        <p:nvSpPr>
          <p:cNvPr id="15" name="Shape 12"/>
          <p:cNvSpPr/>
          <p:nvPr/>
        </p:nvSpPr>
        <p:spPr>
          <a:xfrm>
            <a:off x="8293608" y="3810048"/>
            <a:ext cx="3395167" cy="786384"/>
          </a:xfrm>
          <a:prstGeom prst="roundRect">
            <a:avLst>
              <a:gd name="adj" fmla="val 6977"/>
            </a:avLst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94776" y="3892344"/>
            <a:ext cx="299283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803D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카테고리·위치별 분포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8494776" y="4157520"/>
            <a:ext cx="299283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자주 고장나는 설비를 수치로 제시. 수기 대장·기억을 대체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502920" y="5870448"/>
            <a:ext cx="11185855" cy="512064"/>
          </a:xfrm>
          <a:prstGeom prst="roundRect">
            <a:avLst>
              <a:gd name="adj" fmla="val 10714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85800" y="5998464"/>
            <a:ext cx="475488" cy="256032"/>
          </a:xfrm>
          <a:prstGeom prst="roundRect">
            <a:avLst>
              <a:gd name="adj" fmla="val 28571"/>
            </a:avLst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85800" y="6035040"/>
            <a:ext cx="4754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DB</a:t>
            </a:r>
            <a:endParaRPr lang="en-US" sz="950" dirty="0"/>
          </a:p>
        </p:txBody>
      </p:sp>
      <p:sp>
        <p:nvSpPr>
          <p:cNvPr id="21" name="Text 18"/>
          <p:cNvSpPr txBox="1"/>
          <p:nvPr/>
        </p:nvSpPr>
        <p:spPr>
          <a:xfrm>
            <a:off x="1280160" y="6016752"/>
            <a:ext cx="101800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idx_complaint_stats (category_code, created_at) 로 집계</a:t>
            </a:r>
            <a:endParaRPr lang="en-US" sz="1050" dirty="0"/>
          </a:p>
        </p:txBody>
      </p:sp>
      <p:sp>
        <p:nvSpPr>
          <p:cNvPr id="22" name="Text 19"/>
          <p:cNvSpPr txBox="1"/>
          <p:nvPr/>
        </p:nvSpPr>
        <p:spPr>
          <a:xfrm>
            <a:off x="502920" y="64465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UI 흐름 · A-06 민원 통계</a:t>
            </a:r>
            <a:endParaRPr lang="en-US" sz="900" dirty="0"/>
          </a:p>
        </p:txBody>
      </p:sp>
      <p:sp>
        <p:nvSpPr>
          <p:cNvPr id="23" name="Text 20"/>
          <p:cNvSpPr txBox="1"/>
          <p:nvPr/>
        </p:nvSpPr>
        <p:spPr>
          <a:xfrm>
            <a:off x="10957255" y="6446520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28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9144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5BE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03 UI 흐름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12064"/>
            <a:ext cx="1118585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예외 및 오류 상태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932688"/>
            <a:ext cx="111858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예외는 별도 화면이 아니라 모달·비활성 상태로 표현하고, API 응답 코드와 1:1로 대응시킨다.</a:t>
            </a:r>
            <a:endParaRPr lang="en-US" sz="1200" dirty="0"/>
          </a:p>
        </p:txBody>
      </p:sp>
      <p:pic>
        <p:nvPicPr>
          <p:cNvPr id="5" name="Image 0" descr="/Users/smoh/my-workspace/WebMiniProject/docs/img/pc/E-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2024971"/>
            <a:ext cx="2590724" cy="1345017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4462272"/>
            <a:ext cx="2590724" cy="1481328"/>
          </a:xfrm>
          <a:prstGeom prst="roundRect">
            <a:avLst>
              <a:gd name="adj" fmla="val 3704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85800" y="4626864"/>
            <a:ext cx="22249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E-01  선점 충돌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4882896"/>
            <a:ext cx="22249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81E1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409 ALREADY_CLAIMED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5138928"/>
            <a:ext cx="22249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두 작업자가 동시에 선점하면 먼저 도달한 요청만 성공한다. 나머지는 목록으로 되돌린다.</a:t>
            </a:r>
            <a:endParaRPr lang="en-US" sz="1000" dirty="0"/>
          </a:p>
        </p:txBody>
      </p:sp>
      <p:pic>
        <p:nvPicPr>
          <p:cNvPr id="10" name="Image 1" descr="/Users/smoh/my-workspace/WebMiniProject/docs/img/pc/E-0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67964" y="1978554"/>
            <a:ext cx="2590724" cy="1437852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3367964" y="4462272"/>
            <a:ext cx="2590724" cy="1481328"/>
          </a:xfrm>
          <a:prstGeom prst="roundRect">
            <a:avLst>
              <a:gd name="adj" fmla="val 3704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3550844" y="4626864"/>
            <a:ext cx="22249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E-02  배정 후 수정·취소 제한</a:t>
            </a:r>
            <a:endParaRPr lang="en-US" sz="1150" dirty="0"/>
          </a:p>
        </p:txBody>
      </p:sp>
      <p:sp>
        <p:nvSpPr>
          <p:cNvPr id="13" name="Text 9"/>
          <p:cNvSpPr txBox="1"/>
          <p:nvPr/>
        </p:nvSpPr>
        <p:spPr>
          <a:xfrm>
            <a:off x="3550844" y="4882896"/>
            <a:ext cx="22249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81E1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409 NOT_EDITABLE</a:t>
            </a:r>
            <a:endParaRPr lang="en-US" sz="1000" dirty="0"/>
          </a:p>
        </p:txBody>
      </p:sp>
      <p:sp>
        <p:nvSpPr>
          <p:cNvPr id="14" name="Text 10"/>
          <p:cNvSpPr txBox="1"/>
          <p:nvPr/>
        </p:nvSpPr>
        <p:spPr>
          <a:xfrm>
            <a:off x="3550844" y="5138928"/>
            <a:ext cx="22249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배정 이후에는 신고자가 내용을 바꾸거나 취소할 수 없다. 버튼을 비활성화하고 이유를 함께 보여준다.</a:t>
            </a:r>
            <a:endParaRPr lang="en-US" sz="1000" dirty="0"/>
          </a:p>
        </p:txBody>
      </p:sp>
      <p:pic>
        <p:nvPicPr>
          <p:cNvPr id="15" name="Image 2" descr="/Users/smoh/my-workspace/WebMiniProject/docs/img/pc/E-03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3008" y="2047640"/>
            <a:ext cx="2590724" cy="1299680"/>
          </a:xfrm>
          <a:prstGeom prst="rect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6233008" y="4462272"/>
            <a:ext cx="2590724" cy="1481328"/>
          </a:xfrm>
          <a:prstGeom prst="roundRect">
            <a:avLst>
              <a:gd name="adj" fmla="val 3704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6415888" y="4626864"/>
            <a:ext cx="22249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E-03  민원 취소 확인</a:t>
            </a:r>
            <a:endParaRPr lang="en-US" sz="1150" dirty="0"/>
          </a:p>
        </p:txBody>
      </p:sp>
      <p:sp>
        <p:nvSpPr>
          <p:cNvPr id="18" name="Text 13"/>
          <p:cNvSpPr txBox="1"/>
          <p:nvPr/>
        </p:nvSpPr>
        <p:spPr>
          <a:xfrm>
            <a:off x="6415888" y="4882896"/>
            <a:ext cx="22249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81E1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POST .../cancel</a:t>
            </a:r>
            <a:endParaRPr lang="en-US" sz="1000" dirty="0"/>
          </a:p>
        </p:txBody>
      </p:sp>
      <p:sp>
        <p:nvSpPr>
          <p:cNvPr id="19" name="Text 14"/>
          <p:cNvSpPr txBox="1"/>
          <p:nvPr/>
        </p:nvSpPr>
        <p:spPr>
          <a:xfrm>
            <a:off x="6415888" y="5138928"/>
            <a:ext cx="22249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되돌릴 수 없는 동작이므로 확인 단계를 둔다. 물리 삭제가 아니라 CANCELED 상태 전환이다.</a:t>
            </a:r>
            <a:endParaRPr lang="en-US" sz="1000" dirty="0"/>
          </a:p>
        </p:txBody>
      </p:sp>
      <p:pic>
        <p:nvPicPr>
          <p:cNvPr id="20" name="Image 3" descr="/Users/smoh/my-workspace/WebMiniProject/docs/img/pc/E-04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98051" y="2019574"/>
            <a:ext cx="2590724" cy="1355812"/>
          </a:xfrm>
          <a:prstGeom prst="rect">
            <a:avLst/>
          </a:prstGeom>
        </p:spPr>
      </p:pic>
      <p:sp>
        <p:nvSpPr>
          <p:cNvPr id="21" name="Shape 15"/>
          <p:cNvSpPr/>
          <p:nvPr/>
        </p:nvSpPr>
        <p:spPr>
          <a:xfrm>
            <a:off x="9098051" y="4462272"/>
            <a:ext cx="2590724" cy="1481328"/>
          </a:xfrm>
          <a:prstGeom prst="roundRect">
            <a:avLst>
              <a:gd name="adj" fmla="val 3704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9280931" y="4626864"/>
            <a:ext cx="22249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E-04  작업 반납 확인</a:t>
            </a:r>
            <a:endParaRPr lang="en-US" sz="1150" dirty="0"/>
          </a:p>
        </p:txBody>
      </p:sp>
      <p:sp>
        <p:nvSpPr>
          <p:cNvPr id="23" name="Text 17"/>
          <p:cNvSpPr txBox="1"/>
          <p:nvPr/>
        </p:nvSpPr>
        <p:spPr>
          <a:xfrm>
            <a:off x="9280931" y="4882896"/>
            <a:ext cx="22249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81E1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POST .../release</a:t>
            </a:r>
            <a:endParaRPr lang="en-US" sz="1000" dirty="0"/>
          </a:p>
        </p:txBody>
      </p:sp>
      <p:sp>
        <p:nvSpPr>
          <p:cNvPr id="24" name="Text 18"/>
          <p:cNvSpPr txBox="1"/>
          <p:nvPr/>
        </p:nvSpPr>
        <p:spPr>
          <a:xfrm>
            <a:off x="9280931" y="5138928"/>
            <a:ext cx="22249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작성 중인 처리 결과가 저장되지 않는다는 점과, 다른 작업자가 다시 선점할 수 있다는 점을 알린다.</a:t>
            </a:r>
            <a:endParaRPr lang="en-US" sz="1000" dirty="0"/>
          </a:p>
        </p:txBody>
      </p:sp>
      <p:sp>
        <p:nvSpPr>
          <p:cNvPr id="25" name="Text 19"/>
          <p:cNvSpPr txBox="1"/>
          <p:nvPr/>
        </p:nvSpPr>
        <p:spPr>
          <a:xfrm>
            <a:off x="502920" y="64465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오피스 시설 민원 처리 서비스</a:t>
            </a:r>
            <a:endParaRPr lang="en-US" sz="900" dirty="0"/>
          </a:p>
        </p:txBody>
      </p:sp>
      <p:sp>
        <p:nvSpPr>
          <p:cNvPr id="26" name="Text 20"/>
          <p:cNvSpPr txBox="1"/>
          <p:nvPr/>
        </p:nvSpPr>
        <p:spPr>
          <a:xfrm>
            <a:off x="10957255" y="6446520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29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9144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5BE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04 데이터 모델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12064"/>
            <a:ext cx="1118585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ERD — 6 테이블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932688"/>
            <a:ext cx="111858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DBML 원본을 그대로 렌더한 다이어그램이다. 열거형은 가독성을 위해 우측에 목록으로 분리했다.</a:t>
            </a:r>
            <a:endParaRPr lang="en-US" sz="1200" dirty="0"/>
          </a:p>
        </p:txBody>
      </p:sp>
      <p:pic>
        <p:nvPicPr>
          <p:cNvPr id="5" name="Image 0" descr="/Users/smoh/my-workspace/WebMiniProject/docs/img/erd-dbm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243584"/>
            <a:ext cx="4185543" cy="46177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66928" y="5907024"/>
            <a:ext cx="418554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docs/erd.dbml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5209671" y="1243584"/>
            <a:ext cx="3102392" cy="4617720"/>
          </a:xfrm>
          <a:prstGeom prst="roundRect">
            <a:avLst>
              <a:gd name="adj" fmla="val 17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47415" y="1426464"/>
            <a:ext cx="26451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정규화 판단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5447415" y="1828800"/>
            <a:ext cx="2645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5BE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위치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5447415" y="2075688"/>
            <a:ext cx="2645192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층·공간은 민원의 분류 속성일 뿐 독립 조회 대상이 아니다. 등록 화면의 두 드롭다운과 1:1 대응한다.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5447415" y="3218688"/>
            <a:ext cx="2645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5BE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조치 · 반려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5447415" y="3465576"/>
            <a:ext cx="2645192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COMPLETED / REJECTED 일 때만 채워지는 종결 정보다. "누가 언제 처리했는가"는 complaint_history 가 이미 보관하므로 본체에 중복 컬럼을 두지 않는다.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5447415" y="4608576"/>
            <a:ext cx="2645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5BE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complaint_history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5447415" y="4855464"/>
            <a:ext cx="2645192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이력 축적이라는 핵심 가치를 담는다. 상세 화면의 타임라인, 평균 처리 시간, 정기 정비 근거가 모두 여기서 나온다. append-only 로 운용한다.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8586383" y="1243584"/>
            <a:ext cx="3102392" cy="2212848"/>
          </a:xfrm>
          <a:prstGeom prst="roundRect">
            <a:avLst>
              <a:gd name="adj" fmla="val 2479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824127" y="1408176"/>
            <a:ext cx="26451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F5BE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열거형</a:t>
            </a:r>
            <a:endParaRPr lang="en-US" sz="1250" dirty="0"/>
          </a:p>
        </p:txBody>
      </p:sp>
      <p:sp>
        <p:nvSpPr>
          <p:cNvPr id="17" name="Text 14"/>
          <p:cNvSpPr txBox="1"/>
          <p:nvPr/>
        </p:nvSpPr>
        <p:spPr>
          <a:xfrm>
            <a:off x="8824127" y="1700784"/>
            <a:ext cx="264519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F17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complaint_status</a:t>
            </a:r>
            <a:endParaRPr lang="en-US" sz="950" dirty="0"/>
          </a:p>
        </p:txBody>
      </p:sp>
      <p:sp>
        <p:nvSpPr>
          <p:cNvPr id="18" name="Text 15"/>
          <p:cNvSpPr txBox="1"/>
          <p:nvPr/>
        </p:nvSpPr>
        <p:spPr>
          <a:xfrm>
            <a:off x="8824127" y="1865376"/>
            <a:ext cx="264519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RECEIVED · IN_PROGRESS · COMPLETED · REJECTED · CANCELED</a:t>
            </a:r>
            <a:endParaRPr lang="en-US" sz="900" dirty="0"/>
          </a:p>
        </p:txBody>
      </p:sp>
      <p:sp>
        <p:nvSpPr>
          <p:cNvPr id="19" name="Text 16"/>
          <p:cNvSpPr txBox="1"/>
          <p:nvPr/>
        </p:nvSpPr>
        <p:spPr>
          <a:xfrm>
            <a:off x="8824127" y="2048256"/>
            <a:ext cx="264519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F17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complaint_priority</a:t>
            </a:r>
            <a:endParaRPr lang="en-US" sz="950" dirty="0"/>
          </a:p>
        </p:txBody>
      </p:sp>
      <p:sp>
        <p:nvSpPr>
          <p:cNvPr id="20" name="Text 17"/>
          <p:cNvSpPr txBox="1"/>
          <p:nvPr/>
        </p:nvSpPr>
        <p:spPr>
          <a:xfrm>
            <a:off x="8824127" y="2212848"/>
            <a:ext cx="264519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URGENT · NORMAL · LOW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8824127" y="2395728"/>
            <a:ext cx="264519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F17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space_type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8824127" y="2560320"/>
            <a:ext cx="264519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8종 (사무구역 · 화장실 · 탕비실 · 회의실 · 복도 · 기계실 · 로비 · 주차장)</a:t>
            </a:r>
            <a:endParaRPr lang="en-US" sz="900" dirty="0"/>
          </a:p>
        </p:txBody>
      </p:sp>
      <p:sp>
        <p:nvSpPr>
          <p:cNvPr id="23" name="Text 20"/>
          <p:cNvSpPr txBox="1"/>
          <p:nvPr/>
        </p:nvSpPr>
        <p:spPr>
          <a:xfrm>
            <a:off x="8824127" y="2743200"/>
            <a:ext cx="264519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F17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history_action</a:t>
            </a:r>
            <a:endParaRPr lang="en-US" sz="950" dirty="0"/>
          </a:p>
        </p:txBody>
      </p:sp>
      <p:sp>
        <p:nvSpPr>
          <p:cNvPr id="24" name="Text 21"/>
          <p:cNvSpPr txBox="1"/>
          <p:nvPr/>
        </p:nvSpPr>
        <p:spPr>
          <a:xfrm>
            <a:off x="8824127" y="2907792"/>
            <a:ext cx="264519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11종 (REGISTER · CLAIM · RELEASE · COMPLETE · ASSIGN · REJECT …)</a:t>
            </a:r>
            <a:endParaRPr lang="en-US" sz="900" dirty="0"/>
          </a:p>
        </p:txBody>
      </p:sp>
      <p:sp>
        <p:nvSpPr>
          <p:cNvPr id="25" name="Text 22"/>
          <p:cNvSpPr txBox="1"/>
          <p:nvPr/>
        </p:nvSpPr>
        <p:spPr>
          <a:xfrm>
            <a:off x="8824127" y="3090672"/>
            <a:ext cx="264519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F17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rejection_type · photo_type · actor_type · user_role</a:t>
            </a:r>
            <a:endParaRPr lang="en-US" sz="950" dirty="0"/>
          </a:p>
        </p:txBody>
      </p:sp>
      <p:sp>
        <p:nvSpPr>
          <p:cNvPr id="26" name="Text 23"/>
          <p:cNvSpPr txBox="1"/>
          <p:nvPr/>
        </p:nvSpPr>
        <p:spPr>
          <a:xfrm>
            <a:off x="8824127" y="3255264"/>
            <a:ext cx="264519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각 2~3종</a:t>
            </a:r>
            <a:endParaRPr lang="en-US" sz="900" dirty="0"/>
          </a:p>
        </p:txBody>
      </p:sp>
      <p:sp>
        <p:nvSpPr>
          <p:cNvPr id="27" name="Shape 24"/>
          <p:cNvSpPr/>
          <p:nvPr/>
        </p:nvSpPr>
        <p:spPr>
          <a:xfrm>
            <a:off x="8586383" y="3602736"/>
            <a:ext cx="3102392" cy="2258568"/>
          </a:xfrm>
          <a:prstGeom prst="roundRect">
            <a:avLst>
              <a:gd name="adj" fmla="val 2429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824127" y="3767328"/>
            <a:ext cx="26451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인덱스 — 화면별 조회 패턴</a:t>
            </a:r>
            <a:endParaRPr lang="en-US" sz="1250" dirty="0"/>
          </a:p>
        </p:txBody>
      </p:sp>
      <p:sp>
        <p:nvSpPr>
          <p:cNvPr id="29" name="Text 26"/>
          <p:cNvSpPr txBox="1"/>
          <p:nvPr/>
        </p:nvSpPr>
        <p:spPr>
          <a:xfrm>
            <a:off x="8824127" y="4078224"/>
            <a:ext cx="26451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F5BE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(status, priority, created_at)</a:t>
            </a:r>
            <a:endParaRPr lang="en-US" sz="900" dirty="0"/>
          </a:p>
        </p:txBody>
      </p:sp>
      <p:sp>
        <p:nvSpPr>
          <p:cNvPr id="30" name="Text 27"/>
          <p:cNvSpPr txBox="1"/>
          <p:nvPr/>
        </p:nvSpPr>
        <p:spPr>
          <a:xfrm>
            <a:off x="8824127" y="4242816"/>
            <a:ext cx="26451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W-02 미배정 목록 정렬</a:t>
            </a:r>
            <a:endParaRPr lang="en-US" sz="900" dirty="0"/>
          </a:p>
        </p:txBody>
      </p:sp>
      <p:sp>
        <p:nvSpPr>
          <p:cNvPr id="31" name="Text 28"/>
          <p:cNvSpPr txBox="1"/>
          <p:nvPr/>
        </p:nvSpPr>
        <p:spPr>
          <a:xfrm>
            <a:off x="8824127" y="4443984"/>
            <a:ext cx="26451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F5BE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(assignee_id, status)</a:t>
            </a:r>
            <a:endParaRPr lang="en-US" sz="900" dirty="0"/>
          </a:p>
        </p:txBody>
      </p:sp>
      <p:sp>
        <p:nvSpPr>
          <p:cNvPr id="32" name="Text 29"/>
          <p:cNvSpPr txBox="1"/>
          <p:nvPr/>
        </p:nvSpPr>
        <p:spPr>
          <a:xfrm>
            <a:off x="8824127" y="4608576"/>
            <a:ext cx="26451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W-05 내 작업 · A-01 보유 현황</a:t>
            </a:r>
            <a:endParaRPr lang="en-US" sz="900" dirty="0"/>
          </a:p>
        </p:txBody>
      </p:sp>
      <p:sp>
        <p:nvSpPr>
          <p:cNvPr id="33" name="Text 30"/>
          <p:cNvSpPr txBox="1"/>
          <p:nvPr/>
        </p:nvSpPr>
        <p:spPr>
          <a:xfrm>
            <a:off x="8824127" y="4809744"/>
            <a:ext cx="26451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F5BE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(floor_no, space, category_code, status)</a:t>
            </a:r>
            <a:endParaRPr lang="en-US" sz="900" dirty="0"/>
          </a:p>
        </p:txBody>
      </p:sp>
      <p:sp>
        <p:nvSpPr>
          <p:cNvPr id="34" name="Text 31"/>
          <p:cNvSpPr txBox="1"/>
          <p:nvPr/>
        </p:nvSpPr>
        <p:spPr>
          <a:xfrm>
            <a:off x="8824127" y="4974336"/>
            <a:ext cx="26451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W-03 동일 위치 진행 중 민원</a:t>
            </a:r>
            <a:endParaRPr lang="en-US" sz="900" dirty="0"/>
          </a:p>
        </p:txBody>
      </p:sp>
      <p:sp>
        <p:nvSpPr>
          <p:cNvPr id="35" name="Text 32"/>
          <p:cNvSpPr txBox="1"/>
          <p:nvPr/>
        </p:nvSpPr>
        <p:spPr>
          <a:xfrm>
            <a:off x="8824127" y="5175504"/>
            <a:ext cx="26451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F5BE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(category_code, created_at)</a:t>
            </a:r>
            <a:endParaRPr lang="en-US" sz="900" dirty="0"/>
          </a:p>
        </p:txBody>
      </p:sp>
      <p:sp>
        <p:nvSpPr>
          <p:cNvPr id="36" name="Text 33"/>
          <p:cNvSpPr txBox="1"/>
          <p:nvPr/>
        </p:nvSpPr>
        <p:spPr>
          <a:xfrm>
            <a:off x="8824127" y="5340096"/>
            <a:ext cx="26451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A-06 통계 집계</a:t>
            </a:r>
            <a:endParaRPr lang="en-US" sz="900" dirty="0"/>
          </a:p>
        </p:txBody>
      </p:sp>
      <p:sp>
        <p:nvSpPr>
          <p:cNvPr id="37" name="Text 34"/>
          <p:cNvSpPr txBox="1"/>
          <p:nvPr/>
        </p:nvSpPr>
        <p:spPr>
          <a:xfrm>
            <a:off x="8824127" y="5541264"/>
            <a:ext cx="26451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F5BE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history (complaint_id, created_at)</a:t>
            </a:r>
            <a:endParaRPr lang="en-US" sz="900" dirty="0"/>
          </a:p>
        </p:txBody>
      </p:sp>
      <p:sp>
        <p:nvSpPr>
          <p:cNvPr id="38" name="Text 35"/>
          <p:cNvSpPr txBox="1"/>
          <p:nvPr/>
        </p:nvSpPr>
        <p:spPr>
          <a:xfrm>
            <a:off x="8824127" y="5705856"/>
            <a:ext cx="26451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처리 이력 타임라인</a:t>
            </a:r>
            <a:endParaRPr lang="en-US" sz="900" dirty="0"/>
          </a:p>
        </p:txBody>
      </p:sp>
      <p:sp>
        <p:nvSpPr>
          <p:cNvPr id="39" name="Text 36"/>
          <p:cNvSpPr txBox="1"/>
          <p:nvPr/>
        </p:nvSpPr>
        <p:spPr>
          <a:xfrm>
            <a:off x="502920" y="64465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오피스 시설 민원 처리 서비스</a:t>
            </a:r>
            <a:endParaRPr lang="en-US" sz="900" dirty="0"/>
          </a:p>
        </p:txBody>
      </p:sp>
      <p:sp>
        <p:nvSpPr>
          <p:cNvPr id="40" name="Text 37"/>
          <p:cNvSpPr txBox="1"/>
          <p:nvPr/>
        </p:nvSpPr>
        <p:spPr>
          <a:xfrm>
            <a:off x="10957255" y="6446520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30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9144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5BE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05 API 설계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12064"/>
            <a:ext cx="1118585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설계 규칙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932688"/>
            <a:ext cx="111858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경로와 메서드만 보고도 무엇이 일어나는지 읽히도록 정했다.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371600"/>
            <a:ext cx="5428336" cy="1371600"/>
          </a:xfrm>
          <a:prstGeom prst="roundRect">
            <a:avLst>
              <a:gd name="adj" fmla="val 4000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0664" y="1609344"/>
            <a:ext cx="329184" cy="329184"/>
          </a:xfrm>
          <a:prstGeom prst="roundRect">
            <a:avLst>
              <a:gd name="adj" fmla="val 27778"/>
            </a:avLst>
          </a:prstGeom>
          <a:solidFill>
            <a:srgbClr val="2F5BEA"/>
          </a:solidFill>
          <a:ln w="12700">
            <a:solidFill>
              <a:srgbClr val="2F5BE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40664" y="1645920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1197864" y="1609344"/>
            <a:ext cx="45139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상태 전이는 하위 리소스 조작으로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1197864" y="1956816"/>
            <a:ext cx="451393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POST /complaints/{id}/claim · DELETE /complaints/{id}/assignment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본체에 대한 PATCH 는 상태를 바꾸지 않는 내용 수정에만 쓴다.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260440" y="1371600"/>
            <a:ext cx="5428336" cy="1371600"/>
          </a:xfrm>
          <a:prstGeom prst="roundRect">
            <a:avLst>
              <a:gd name="adj" fmla="val 4000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98184" y="1609344"/>
            <a:ext cx="329184" cy="329184"/>
          </a:xfrm>
          <a:prstGeom prst="roundRect">
            <a:avLst>
              <a:gd name="adj" fmla="val 27778"/>
            </a:avLst>
          </a:prstGeom>
          <a:solidFill>
            <a:srgbClr val="2F5BEA"/>
          </a:solidFill>
          <a:ln w="12700">
            <a:solidFill>
              <a:srgbClr val="2F5BE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98184" y="1645920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6955384" y="1609344"/>
            <a:ext cx="45139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수정 경로를 권한별로 분리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6955384" y="1956816"/>
            <a:ext cx="451393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신고자 원문 수정과 관리소장 분류 수정은 수정 가능 필드와 허용 상태가 다르다.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하나로 묶으면 요청 스키마가 조건부가 되어 명세가 흐려진다.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02920" y="2944368"/>
            <a:ext cx="5428336" cy="1371600"/>
          </a:xfrm>
          <a:prstGeom prst="roundRect">
            <a:avLst>
              <a:gd name="adj" fmla="val 4000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40664" y="3182112"/>
            <a:ext cx="329184" cy="329184"/>
          </a:xfrm>
          <a:prstGeom prst="roundRect">
            <a:avLst>
              <a:gd name="adj" fmla="val 27778"/>
            </a:avLst>
          </a:prstGeom>
          <a:solidFill>
            <a:srgbClr val="2F5BEA"/>
          </a:solidFill>
          <a:ln w="12700">
            <a:solidFill>
              <a:srgbClr val="2F5BE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40664" y="3218688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1197864" y="3182112"/>
            <a:ext cx="45139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본인 확인은 인증이 아니라 파라미터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1197864" y="3529584"/>
            <a:ext cx="451393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조회는 공개라 비밀번호가 없고, 수정·취소 본문에만 4자리 비밀번호를 담는다.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DELETE 본문은 프록시에서 보장되지 않아 취소는 POST .../cancel 로 정의했다.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260440" y="2944368"/>
            <a:ext cx="5428336" cy="1371600"/>
          </a:xfrm>
          <a:prstGeom prst="roundRect">
            <a:avLst>
              <a:gd name="adj" fmla="val 4000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498184" y="3182112"/>
            <a:ext cx="329184" cy="329184"/>
          </a:xfrm>
          <a:prstGeom prst="roundRect">
            <a:avLst>
              <a:gd name="adj" fmla="val 27778"/>
            </a:avLst>
          </a:prstGeom>
          <a:solidFill>
            <a:srgbClr val="2F5BEA"/>
          </a:solidFill>
          <a:ln w="12700">
            <a:solidFill>
              <a:srgbClr val="2F5BE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498184" y="3218688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6955384" y="3182112"/>
            <a:ext cx="45139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목록은 직원 전용, 단건은 공개</a:t>
            </a:r>
            <a:endParaRPr lang="en-US" sz="1350" dirty="0"/>
          </a:p>
        </p:txBody>
      </p:sp>
      <p:sp>
        <p:nvSpPr>
          <p:cNvPr id="24" name="Text 22"/>
          <p:cNvSpPr txBox="1"/>
          <p:nvPr/>
        </p:nvSpPr>
        <p:spPr>
          <a:xfrm>
            <a:off x="6955384" y="3529584"/>
            <a:ext cx="451393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민원 번호를 아는 사람만 자기 민원을 볼 수 있어야 한다.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목록 조회와 단건 조회의 접근 범위를 다르게 뒀다.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02920" y="4526280"/>
            <a:ext cx="11185855" cy="1234440"/>
          </a:xfrm>
          <a:prstGeom prst="roundRect">
            <a:avLst>
              <a:gd name="adj" fmla="val 4444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77240" y="4709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F5BE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목록 엔드포인트 하나가 네 화면을 담당한다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777240" y="5029200"/>
            <a:ext cx="2476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W-02 미배정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777240" y="5266944"/>
            <a:ext cx="24764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status=RECEIVED</a:t>
            </a:r>
            <a:endParaRPr lang="en-US" sz="950" dirty="0"/>
          </a:p>
        </p:txBody>
      </p:sp>
      <p:sp>
        <p:nvSpPr>
          <p:cNvPr id="29" name="Text 27"/>
          <p:cNvSpPr txBox="1"/>
          <p:nvPr/>
        </p:nvSpPr>
        <p:spPr>
          <a:xfrm>
            <a:off x="3436544" y="5029200"/>
            <a:ext cx="2476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W-05 내 작업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3436544" y="5266944"/>
            <a:ext cx="24764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assignee=me&amp;status=IN_PROGRESS</a:t>
            </a:r>
            <a:endParaRPr lang="en-US" sz="950" dirty="0"/>
          </a:p>
        </p:txBody>
      </p:sp>
      <p:sp>
        <p:nvSpPr>
          <p:cNvPr id="31" name="Text 29"/>
          <p:cNvSpPr txBox="1"/>
          <p:nvPr/>
        </p:nvSpPr>
        <p:spPr>
          <a:xfrm>
            <a:off x="6095848" y="5029200"/>
            <a:ext cx="2476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A-02 전체 민원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6095848" y="5266944"/>
            <a:ext cx="24764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필터 조합</a:t>
            </a:r>
            <a:endParaRPr lang="en-US" sz="950" dirty="0"/>
          </a:p>
        </p:txBody>
      </p:sp>
      <p:sp>
        <p:nvSpPr>
          <p:cNvPr id="33" name="Text 31"/>
          <p:cNvSpPr txBox="1"/>
          <p:nvPr/>
        </p:nvSpPr>
        <p:spPr>
          <a:xfrm>
            <a:off x="8755151" y="5029200"/>
            <a:ext cx="2476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A-01 지연 민원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8755151" y="5266944"/>
            <a:ext cx="24764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status=RECEIVED&amp;delayed=true</a:t>
            </a:r>
            <a:endParaRPr lang="en-US" sz="950" dirty="0"/>
          </a:p>
        </p:txBody>
      </p:sp>
      <p:sp>
        <p:nvSpPr>
          <p:cNvPr id="35" name="Text 33"/>
          <p:cNvSpPr txBox="1"/>
          <p:nvPr/>
        </p:nvSpPr>
        <p:spPr>
          <a:xfrm>
            <a:off x="502920" y="64465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오피스 시설 민원 처리 서비스</a:t>
            </a:r>
            <a:endParaRPr lang="en-US" sz="900" dirty="0"/>
          </a:p>
        </p:txBody>
      </p:sp>
      <p:sp>
        <p:nvSpPr>
          <p:cNvPr id="36" name="Text 34"/>
          <p:cNvSpPr txBox="1"/>
          <p:nvPr/>
        </p:nvSpPr>
        <p:spPr>
          <a:xfrm>
            <a:off x="10957255" y="6446520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31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9144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5BE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05 API 설계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12064"/>
            <a:ext cx="1118585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엔드포인트 19종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932688"/>
            <a:ext cx="111858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OAS 3.0 으로 작성했으며 Security Schemes 는 과제 범위에 따라 제외했다.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353312"/>
            <a:ext cx="658368" cy="274320"/>
          </a:xfrm>
          <a:prstGeom prst="roundRect">
            <a:avLst>
              <a:gd name="adj" fmla="val 23333"/>
            </a:avLst>
          </a:prstGeom>
          <a:solidFill>
            <a:srgbClr val="2F5BEA"/>
          </a:solidFill>
          <a:ln w="12700">
            <a:solidFill>
              <a:srgbClr val="2F5BE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02920" y="1389888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POST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1252728" y="1335024"/>
            <a:ext cx="466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/complaints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1252728" y="1536192"/>
            <a:ext cx="466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FR-101 민원 등록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02920" y="1810512"/>
            <a:ext cx="658368" cy="274320"/>
          </a:xfrm>
          <a:prstGeom prst="roundRect">
            <a:avLst>
              <a:gd name="adj" fmla="val 23333"/>
            </a:avLst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02920" y="1847088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GET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1252728" y="1792224"/>
            <a:ext cx="466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/complaints/{id}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1252728" y="1993392"/>
            <a:ext cx="466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FR-102 단건 조회 (공개)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502920" y="2267712"/>
            <a:ext cx="658368" cy="274320"/>
          </a:xfrm>
          <a:prstGeom prst="roundRect">
            <a:avLst>
              <a:gd name="adj" fmla="val 23333"/>
            </a:avLst>
          </a:prstGeom>
          <a:solidFill>
            <a:srgbClr val="2F5BEA"/>
          </a:solidFill>
          <a:ln w="12700">
            <a:solidFill>
              <a:srgbClr val="2F5BE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02920" y="2304288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POST</a:t>
            </a:r>
            <a:endParaRPr lang="en-US" sz="800" dirty="0"/>
          </a:p>
        </p:txBody>
      </p:sp>
      <p:sp>
        <p:nvSpPr>
          <p:cNvPr id="15" name="Text 13"/>
          <p:cNvSpPr txBox="1"/>
          <p:nvPr/>
        </p:nvSpPr>
        <p:spPr>
          <a:xfrm>
            <a:off x="1252728" y="2249424"/>
            <a:ext cx="466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/complaints/{id}/password-verification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1252728" y="2450592"/>
            <a:ext cx="466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수정·취소 선행 본인 확인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02920" y="2724912"/>
            <a:ext cx="658368" cy="274320"/>
          </a:xfrm>
          <a:prstGeom prst="roundRect">
            <a:avLst>
              <a:gd name="adj" fmla="val 23333"/>
            </a:avLst>
          </a:prstGeom>
          <a:solidFill>
            <a:srgbClr val="9A5B08"/>
          </a:solidFill>
          <a:ln w="12700">
            <a:solidFill>
              <a:srgbClr val="9A5B0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02920" y="2761488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PATCH</a:t>
            </a:r>
            <a:endParaRPr lang="en-US" sz="800" dirty="0"/>
          </a:p>
        </p:txBody>
      </p:sp>
      <p:sp>
        <p:nvSpPr>
          <p:cNvPr id="19" name="Text 17"/>
          <p:cNvSpPr txBox="1"/>
          <p:nvPr/>
        </p:nvSpPr>
        <p:spPr>
          <a:xfrm>
            <a:off x="1252728" y="2706624"/>
            <a:ext cx="466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/complaints/{id}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1252728" y="2907792"/>
            <a:ext cx="466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FR-103 원문 수정 (신고자)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02920" y="3182112"/>
            <a:ext cx="658368" cy="274320"/>
          </a:xfrm>
          <a:prstGeom prst="roundRect">
            <a:avLst>
              <a:gd name="adj" fmla="val 23333"/>
            </a:avLst>
          </a:prstGeom>
          <a:solidFill>
            <a:srgbClr val="2F5BEA"/>
          </a:solidFill>
          <a:ln w="12700">
            <a:solidFill>
              <a:srgbClr val="2F5BE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02920" y="3218688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POST</a:t>
            </a:r>
            <a:endParaRPr lang="en-US" sz="800" dirty="0"/>
          </a:p>
        </p:txBody>
      </p:sp>
      <p:sp>
        <p:nvSpPr>
          <p:cNvPr id="23" name="Text 21"/>
          <p:cNvSpPr txBox="1"/>
          <p:nvPr/>
        </p:nvSpPr>
        <p:spPr>
          <a:xfrm>
            <a:off x="1252728" y="3163824"/>
            <a:ext cx="466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/complaints/{id}/cancel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1252728" y="3364992"/>
            <a:ext cx="466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FR-104 취소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502920" y="3639312"/>
            <a:ext cx="658368" cy="274320"/>
          </a:xfrm>
          <a:prstGeom prst="roundRect">
            <a:avLst>
              <a:gd name="adj" fmla="val 23333"/>
            </a:avLst>
          </a:prstGeom>
          <a:solidFill>
            <a:srgbClr val="2F5BEA"/>
          </a:solidFill>
          <a:ln w="12700">
            <a:solidFill>
              <a:srgbClr val="2F5BEA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02920" y="3675888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POST</a:t>
            </a:r>
            <a:endParaRPr lang="en-US" sz="800" dirty="0"/>
          </a:p>
        </p:txBody>
      </p:sp>
      <p:sp>
        <p:nvSpPr>
          <p:cNvPr id="27" name="Text 25"/>
          <p:cNvSpPr txBox="1"/>
          <p:nvPr/>
        </p:nvSpPr>
        <p:spPr>
          <a:xfrm>
            <a:off x="1252728" y="3621024"/>
            <a:ext cx="466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/auth/login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1252728" y="3822192"/>
            <a:ext cx="466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FR-001 직원 로그인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502920" y="4096512"/>
            <a:ext cx="658368" cy="274320"/>
          </a:xfrm>
          <a:prstGeom prst="roundRect">
            <a:avLst>
              <a:gd name="adj" fmla="val 23333"/>
            </a:avLst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02920" y="4133088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GET</a:t>
            </a:r>
            <a:endParaRPr lang="en-US" sz="800" dirty="0"/>
          </a:p>
        </p:txBody>
      </p:sp>
      <p:sp>
        <p:nvSpPr>
          <p:cNvPr id="31" name="Text 29"/>
          <p:cNvSpPr txBox="1"/>
          <p:nvPr/>
        </p:nvSpPr>
        <p:spPr>
          <a:xfrm>
            <a:off x="1252728" y="4078224"/>
            <a:ext cx="466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/complaints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1252728" y="4279392"/>
            <a:ext cx="466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FR-201 · 204 · 301 · 302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02920" y="4553712"/>
            <a:ext cx="658368" cy="274320"/>
          </a:xfrm>
          <a:prstGeom prst="roundRect">
            <a:avLst>
              <a:gd name="adj" fmla="val 23333"/>
            </a:avLst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502920" y="4590288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GET</a:t>
            </a:r>
            <a:endParaRPr lang="en-US" sz="800" dirty="0"/>
          </a:p>
        </p:txBody>
      </p:sp>
      <p:sp>
        <p:nvSpPr>
          <p:cNvPr id="35" name="Text 33"/>
          <p:cNvSpPr txBox="1"/>
          <p:nvPr/>
        </p:nvSpPr>
        <p:spPr>
          <a:xfrm>
            <a:off x="1252728" y="4535424"/>
            <a:ext cx="466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/complaints/{id}/related</a:t>
            </a:r>
            <a:endParaRPr lang="en-US" sz="1000" dirty="0"/>
          </a:p>
        </p:txBody>
      </p:sp>
      <p:sp>
        <p:nvSpPr>
          <p:cNvPr id="36" name="Text 34"/>
          <p:cNvSpPr txBox="1"/>
          <p:nvPr/>
        </p:nvSpPr>
        <p:spPr>
          <a:xfrm>
            <a:off x="1252728" y="4736592"/>
            <a:ext cx="466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FR-206 동일 위치 진행 중 민원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502920" y="5010912"/>
            <a:ext cx="658368" cy="274320"/>
          </a:xfrm>
          <a:prstGeom prst="roundRect">
            <a:avLst>
              <a:gd name="adj" fmla="val 23333"/>
            </a:avLst>
          </a:prstGeom>
          <a:solidFill>
            <a:srgbClr val="2F5BEA"/>
          </a:solidFill>
          <a:ln w="12700">
            <a:solidFill>
              <a:srgbClr val="2F5BEA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502920" y="5047488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POST</a:t>
            </a:r>
            <a:endParaRPr lang="en-US" sz="800" dirty="0"/>
          </a:p>
        </p:txBody>
      </p:sp>
      <p:sp>
        <p:nvSpPr>
          <p:cNvPr id="39" name="Text 37"/>
          <p:cNvSpPr txBox="1"/>
          <p:nvPr/>
        </p:nvSpPr>
        <p:spPr>
          <a:xfrm>
            <a:off x="1252728" y="4992624"/>
            <a:ext cx="466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/complaints/{id}/claim</a:t>
            </a:r>
            <a:endParaRPr lang="en-US" sz="1000" dirty="0"/>
          </a:p>
        </p:txBody>
      </p:sp>
      <p:sp>
        <p:nvSpPr>
          <p:cNvPr id="40" name="Text 38"/>
          <p:cNvSpPr txBox="1"/>
          <p:nvPr/>
        </p:nvSpPr>
        <p:spPr>
          <a:xfrm>
            <a:off x="1252728" y="5193792"/>
            <a:ext cx="466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FR-202 선점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02920" y="5468112"/>
            <a:ext cx="658368" cy="274320"/>
          </a:xfrm>
          <a:prstGeom prst="roundRect">
            <a:avLst>
              <a:gd name="adj" fmla="val 23333"/>
            </a:avLst>
          </a:prstGeom>
          <a:solidFill>
            <a:srgbClr val="2F5BEA"/>
          </a:solidFill>
          <a:ln w="12700">
            <a:solidFill>
              <a:srgbClr val="2F5BEA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502920" y="5504688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POST</a:t>
            </a:r>
            <a:endParaRPr lang="en-US" sz="800" dirty="0"/>
          </a:p>
        </p:txBody>
      </p:sp>
      <p:sp>
        <p:nvSpPr>
          <p:cNvPr id="43" name="Text 41"/>
          <p:cNvSpPr txBox="1"/>
          <p:nvPr/>
        </p:nvSpPr>
        <p:spPr>
          <a:xfrm>
            <a:off x="1252728" y="5449824"/>
            <a:ext cx="466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/complaints/{id}/release</a:t>
            </a:r>
            <a:endParaRPr lang="en-US" sz="1000" dirty="0"/>
          </a:p>
        </p:txBody>
      </p:sp>
      <p:sp>
        <p:nvSpPr>
          <p:cNvPr id="44" name="Text 42"/>
          <p:cNvSpPr txBox="1"/>
          <p:nvPr/>
        </p:nvSpPr>
        <p:spPr>
          <a:xfrm>
            <a:off x="1252728" y="5650992"/>
            <a:ext cx="466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FR-203 반납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6278728" y="1353312"/>
            <a:ext cx="658368" cy="274320"/>
          </a:xfrm>
          <a:prstGeom prst="roundRect">
            <a:avLst>
              <a:gd name="adj" fmla="val 23333"/>
            </a:avLst>
          </a:prstGeom>
          <a:solidFill>
            <a:srgbClr val="2F5BEA"/>
          </a:solidFill>
          <a:ln w="12700">
            <a:solidFill>
              <a:srgbClr val="2F5BEA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6278728" y="1389888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POST</a:t>
            </a:r>
            <a:endParaRPr lang="en-US" sz="800" dirty="0"/>
          </a:p>
        </p:txBody>
      </p:sp>
      <p:sp>
        <p:nvSpPr>
          <p:cNvPr id="47" name="Text 45"/>
          <p:cNvSpPr txBox="1"/>
          <p:nvPr/>
        </p:nvSpPr>
        <p:spPr>
          <a:xfrm>
            <a:off x="7028536" y="1335024"/>
            <a:ext cx="466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/complaints/{id}/completion</a:t>
            </a:r>
            <a:endParaRPr lang="en-US" sz="1000" dirty="0"/>
          </a:p>
        </p:txBody>
      </p:sp>
      <p:sp>
        <p:nvSpPr>
          <p:cNvPr id="48" name="Text 46"/>
          <p:cNvSpPr txBox="1"/>
          <p:nvPr/>
        </p:nvSpPr>
        <p:spPr>
          <a:xfrm>
            <a:off x="7028536" y="1536192"/>
            <a:ext cx="466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FR-205 처리 결과 등록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278728" y="1810512"/>
            <a:ext cx="658368" cy="274320"/>
          </a:xfrm>
          <a:prstGeom prst="roundRect">
            <a:avLst>
              <a:gd name="adj" fmla="val 23333"/>
            </a:avLst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6278728" y="1847088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GET</a:t>
            </a:r>
            <a:endParaRPr lang="en-US" sz="800" dirty="0"/>
          </a:p>
        </p:txBody>
      </p:sp>
      <p:sp>
        <p:nvSpPr>
          <p:cNvPr id="51" name="Text 49"/>
          <p:cNvSpPr txBox="1"/>
          <p:nvPr/>
        </p:nvSpPr>
        <p:spPr>
          <a:xfrm>
            <a:off x="7028536" y="1792224"/>
            <a:ext cx="466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/dashboard</a:t>
            </a:r>
            <a:endParaRPr lang="en-US" sz="1000" dirty="0"/>
          </a:p>
        </p:txBody>
      </p:sp>
      <p:sp>
        <p:nvSpPr>
          <p:cNvPr id="52" name="Text 50"/>
          <p:cNvSpPr txBox="1"/>
          <p:nvPr/>
        </p:nvSpPr>
        <p:spPr>
          <a:xfrm>
            <a:off x="7028536" y="1993392"/>
            <a:ext cx="466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FR-301 · 302 · 303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6278728" y="2267712"/>
            <a:ext cx="658368" cy="274320"/>
          </a:xfrm>
          <a:prstGeom prst="roundRect">
            <a:avLst>
              <a:gd name="adj" fmla="val 23333"/>
            </a:avLst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6278728" y="2304288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GET</a:t>
            </a:r>
            <a:endParaRPr lang="en-US" sz="800" dirty="0"/>
          </a:p>
        </p:txBody>
      </p:sp>
      <p:sp>
        <p:nvSpPr>
          <p:cNvPr id="55" name="Text 53"/>
          <p:cNvSpPr txBox="1"/>
          <p:nvPr/>
        </p:nvSpPr>
        <p:spPr>
          <a:xfrm>
            <a:off x="7028536" y="2249424"/>
            <a:ext cx="466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/workers</a:t>
            </a:r>
            <a:endParaRPr lang="en-US" sz="1000" dirty="0"/>
          </a:p>
        </p:txBody>
      </p:sp>
      <p:sp>
        <p:nvSpPr>
          <p:cNvPr id="56" name="Text 54"/>
          <p:cNvSpPr txBox="1"/>
          <p:nvPr/>
        </p:nvSpPr>
        <p:spPr>
          <a:xfrm>
            <a:off x="7028536" y="2450592"/>
            <a:ext cx="466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FR-303 작업자별 보유 현황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6278728" y="2724912"/>
            <a:ext cx="658368" cy="274320"/>
          </a:xfrm>
          <a:prstGeom prst="roundRect">
            <a:avLst>
              <a:gd name="adj" fmla="val 23333"/>
            </a:avLst>
          </a:prstGeom>
          <a:solidFill>
            <a:srgbClr val="2F5BEA"/>
          </a:solidFill>
          <a:ln w="12700">
            <a:solidFill>
              <a:srgbClr val="2F5BEA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6278728" y="2761488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POST</a:t>
            </a:r>
            <a:endParaRPr lang="en-US" sz="800" dirty="0"/>
          </a:p>
        </p:txBody>
      </p:sp>
      <p:sp>
        <p:nvSpPr>
          <p:cNvPr id="59" name="Text 57"/>
          <p:cNvSpPr txBox="1"/>
          <p:nvPr/>
        </p:nvSpPr>
        <p:spPr>
          <a:xfrm>
            <a:off x="7028536" y="2706624"/>
            <a:ext cx="466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/complaints/{id}/assignment</a:t>
            </a:r>
            <a:endParaRPr lang="en-US" sz="1000" dirty="0"/>
          </a:p>
        </p:txBody>
      </p:sp>
      <p:sp>
        <p:nvSpPr>
          <p:cNvPr id="60" name="Text 58"/>
          <p:cNvSpPr txBox="1"/>
          <p:nvPr/>
        </p:nvSpPr>
        <p:spPr>
          <a:xfrm>
            <a:off x="7028536" y="2907792"/>
            <a:ext cx="466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FR-304 강제 배정 / FR-305 재배정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6278728" y="3182112"/>
            <a:ext cx="658368" cy="274320"/>
          </a:xfrm>
          <a:prstGeom prst="roundRect">
            <a:avLst>
              <a:gd name="adj" fmla="val 23333"/>
            </a:avLst>
          </a:prstGeom>
          <a:solidFill>
            <a:srgbClr val="C81E1E"/>
          </a:solidFill>
          <a:ln w="12700">
            <a:solidFill>
              <a:srgbClr val="C81E1E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6278728" y="3218688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DELETE</a:t>
            </a:r>
            <a:endParaRPr lang="en-US" sz="800" dirty="0"/>
          </a:p>
        </p:txBody>
      </p:sp>
      <p:sp>
        <p:nvSpPr>
          <p:cNvPr id="63" name="Text 61"/>
          <p:cNvSpPr txBox="1"/>
          <p:nvPr/>
        </p:nvSpPr>
        <p:spPr>
          <a:xfrm>
            <a:off x="7028536" y="3163824"/>
            <a:ext cx="466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/complaints/{id}/assignment</a:t>
            </a:r>
            <a:endParaRPr lang="en-US" sz="1000" dirty="0"/>
          </a:p>
        </p:txBody>
      </p:sp>
      <p:sp>
        <p:nvSpPr>
          <p:cNvPr id="64" name="Text 62"/>
          <p:cNvSpPr txBox="1"/>
          <p:nvPr/>
        </p:nvSpPr>
        <p:spPr>
          <a:xfrm>
            <a:off x="7028536" y="3364992"/>
            <a:ext cx="466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FR-306 배정 회수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6278728" y="3639312"/>
            <a:ext cx="658368" cy="274320"/>
          </a:xfrm>
          <a:prstGeom prst="roundRect">
            <a:avLst>
              <a:gd name="adj" fmla="val 23333"/>
            </a:avLst>
          </a:prstGeom>
          <a:solidFill>
            <a:srgbClr val="9A5B08"/>
          </a:solidFill>
          <a:ln w="12700">
            <a:solidFill>
              <a:srgbClr val="9A5B08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6278728" y="3675888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PATCH</a:t>
            </a:r>
            <a:endParaRPr lang="en-US" sz="800" dirty="0"/>
          </a:p>
        </p:txBody>
      </p:sp>
      <p:sp>
        <p:nvSpPr>
          <p:cNvPr id="67" name="Text 65"/>
          <p:cNvSpPr txBox="1"/>
          <p:nvPr/>
        </p:nvSpPr>
        <p:spPr>
          <a:xfrm>
            <a:off x="7028536" y="3621024"/>
            <a:ext cx="466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/complaints/{id}/classification</a:t>
            </a:r>
            <a:endParaRPr lang="en-US" sz="1000" dirty="0"/>
          </a:p>
        </p:txBody>
      </p:sp>
      <p:sp>
        <p:nvSpPr>
          <p:cNvPr id="68" name="Text 66"/>
          <p:cNvSpPr txBox="1"/>
          <p:nvPr/>
        </p:nvSpPr>
        <p:spPr>
          <a:xfrm>
            <a:off x="7028536" y="3822192"/>
            <a:ext cx="466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FR-307 분류 정보 수정</a:t>
            </a:r>
            <a:endParaRPr lang="en-US" sz="900" dirty="0"/>
          </a:p>
        </p:txBody>
      </p:sp>
      <p:sp>
        <p:nvSpPr>
          <p:cNvPr id="69" name="Shape 67"/>
          <p:cNvSpPr/>
          <p:nvPr/>
        </p:nvSpPr>
        <p:spPr>
          <a:xfrm>
            <a:off x="6278728" y="4096512"/>
            <a:ext cx="658368" cy="274320"/>
          </a:xfrm>
          <a:prstGeom prst="roundRect">
            <a:avLst>
              <a:gd name="adj" fmla="val 23333"/>
            </a:avLst>
          </a:prstGeom>
          <a:solidFill>
            <a:srgbClr val="2F5BEA"/>
          </a:solidFill>
          <a:ln w="12700">
            <a:solidFill>
              <a:srgbClr val="2F5BEA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6278728" y="4133088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POST</a:t>
            </a:r>
            <a:endParaRPr lang="en-US" sz="800" dirty="0"/>
          </a:p>
        </p:txBody>
      </p:sp>
      <p:sp>
        <p:nvSpPr>
          <p:cNvPr id="71" name="Text 69"/>
          <p:cNvSpPr txBox="1"/>
          <p:nvPr/>
        </p:nvSpPr>
        <p:spPr>
          <a:xfrm>
            <a:off x="7028536" y="4078224"/>
            <a:ext cx="466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/complaints/{id}/rejection</a:t>
            </a:r>
            <a:endParaRPr lang="en-US" sz="1000" dirty="0"/>
          </a:p>
        </p:txBody>
      </p:sp>
      <p:sp>
        <p:nvSpPr>
          <p:cNvPr id="72" name="Text 70"/>
          <p:cNvSpPr txBox="1"/>
          <p:nvPr/>
        </p:nvSpPr>
        <p:spPr>
          <a:xfrm>
            <a:off x="7028536" y="4279392"/>
            <a:ext cx="466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FR-308 반려</a:t>
            </a:r>
            <a:endParaRPr lang="en-US" sz="900" dirty="0"/>
          </a:p>
        </p:txBody>
      </p:sp>
      <p:sp>
        <p:nvSpPr>
          <p:cNvPr id="73" name="Shape 71"/>
          <p:cNvSpPr/>
          <p:nvPr/>
        </p:nvSpPr>
        <p:spPr>
          <a:xfrm>
            <a:off x="6278728" y="4553712"/>
            <a:ext cx="658368" cy="274320"/>
          </a:xfrm>
          <a:prstGeom prst="roundRect">
            <a:avLst>
              <a:gd name="adj" fmla="val 23333"/>
            </a:avLst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6278728" y="4590288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GET</a:t>
            </a:r>
            <a:endParaRPr lang="en-US" sz="800" dirty="0"/>
          </a:p>
        </p:txBody>
      </p:sp>
      <p:sp>
        <p:nvSpPr>
          <p:cNvPr id="75" name="Text 73"/>
          <p:cNvSpPr txBox="1"/>
          <p:nvPr/>
        </p:nvSpPr>
        <p:spPr>
          <a:xfrm>
            <a:off x="7028536" y="4535424"/>
            <a:ext cx="466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/statistics</a:t>
            </a:r>
            <a:endParaRPr lang="en-US" sz="1000" dirty="0"/>
          </a:p>
        </p:txBody>
      </p:sp>
      <p:sp>
        <p:nvSpPr>
          <p:cNvPr id="76" name="Text 74"/>
          <p:cNvSpPr txBox="1"/>
          <p:nvPr/>
        </p:nvSpPr>
        <p:spPr>
          <a:xfrm>
            <a:off x="7028536" y="4736592"/>
            <a:ext cx="466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FR-309 통계</a:t>
            </a:r>
            <a:endParaRPr lang="en-US" sz="900" dirty="0"/>
          </a:p>
        </p:txBody>
      </p:sp>
      <p:sp>
        <p:nvSpPr>
          <p:cNvPr id="77" name="Shape 75"/>
          <p:cNvSpPr/>
          <p:nvPr/>
        </p:nvSpPr>
        <p:spPr>
          <a:xfrm>
            <a:off x="6278728" y="5010912"/>
            <a:ext cx="658368" cy="274320"/>
          </a:xfrm>
          <a:prstGeom prst="roundRect">
            <a:avLst>
              <a:gd name="adj" fmla="val 23333"/>
            </a:avLst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6278728" y="5047488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GET</a:t>
            </a:r>
            <a:endParaRPr lang="en-US" sz="800" dirty="0"/>
          </a:p>
        </p:txBody>
      </p:sp>
      <p:sp>
        <p:nvSpPr>
          <p:cNvPr id="79" name="Text 77"/>
          <p:cNvSpPr txBox="1"/>
          <p:nvPr/>
        </p:nvSpPr>
        <p:spPr>
          <a:xfrm>
            <a:off x="7028536" y="4992624"/>
            <a:ext cx="466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/categories</a:t>
            </a:r>
            <a:endParaRPr lang="en-US" sz="1000" dirty="0"/>
          </a:p>
        </p:txBody>
      </p:sp>
      <p:sp>
        <p:nvSpPr>
          <p:cNvPr id="80" name="Text 78"/>
          <p:cNvSpPr txBox="1"/>
          <p:nvPr/>
        </p:nvSpPr>
        <p:spPr>
          <a:xfrm>
            <a:off x="7028536" y="5193792"/>
            <a:ext cx="466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등록 화면 카테고리 선택지</a:t>
            </a:r>
            <a:endParaRPr lang="en-US" sz="900" dirty="0"/>
          </a:p>
        </p:txBody>
      </p:sp>
      <p:sp>
        <p:nvSpPr>
          <p:cNvPr id="81" name="Shape 79"/>
          <p:cNvSpPr/>
          <p:nvPr/>
        </p:nvSpPr>
        <p:spPr>
          <a:xfrm>
            <a:off x="6278728" y="5532120"/>
            <a:ext cx="5410048" cy="822960"/>
          </a:xfrm>
          <a:prstGeom prst="roundRect">
            <a:avLst>
              <a:gd name="adj" fmla="val 6667"/>
            </a:avLst>
          </a:prstGeom>
          <a:solidFill>
            <a:srgbClr val="FDF0F0"/>
          </a:solidFill>
          <a:ln w="12700">
            <a:solidFill>
              <a:srgbClr val="FDF0F0"/>
            </a:solidFill>
            <a:prstDash val="solid"/>
          </a:ln>
        </p:spPr>
      </p:sp>
      <p:sp>
        <p:nvSpPr>
          <p:cNvPr id="82" name="Text 80"/>
          <p:cNvSpPr txBox="1"/>
          <p:nvPr/>
        </p:nvSpPr>
        <p:spPr>
          <a:xfrm>
            <a:off x="6479896" y="5650992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81E1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오류 코드</a:t>
            </a:r>
            <a:endParaRPr lang="en-US" sz="1050" dirty="0"/>
          </a:p>
        </p:txBody>
      </p:sp>
      <p:sp>
        <p:nvSpPr>
          <p:cNvPr id="83" name="Text 81"/>
          <p:cNvSpPr txBox="1"/>
          <p:nvPr/>
        </p:nvSpPr>
        <p:spPr>
          <a:xfrm>
            <a:off x="6479896" y="5870448"/>
            <a:ext cx="50077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400 INVALID_PAYLOAD · ORIGINAL_REQUIRED   |   401 PASSWORD_MISMATCH · LOGIN_FAILED   |   403 FORBIDDEN</a:t>
            </a:r>
            <a:endParaRPr lang="en-US" sz="8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404 COMPLAINT_NOT_FOUND · WORKER_NOT_FOUND   |   409 ALREADY_CLAIMED · NOT_EDITABLE · INVALID_STATE</a:t>
            </a:r>
            <a:endParaRPr lang="en-US" sz="850" dirty="0"/>
          </a:p>
        </p:txBody>
      </p:sp>
      <p:sp>
        <p:nvSpPr>
          <p:cNvPr id="84" name="Text 82"/>
          <p:cNvSpPr txBox="1"/>
          <p:nvPr/>
        </p:nvSpPr>
        <p:spPr>
          <a:xfrm>
            <a:off x="502920" y="64465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오피스 시설 민원 처리 서비스</a:t>
            </a:r>
            <a:endParaRPr lang="en-US" sz="900" dirty="0"/>
          </a:p>
        </p:txBody>
      </p:sp>
      <p:sp>
        <p:nvSpPr>
          <p:cNvPr id="85" name="Text 83"/>
          <p:cNvSpPr txBox="1"/>
          <p:nvPr/>
        </p:nvSpPr>
        <p:spPr>
          <a:xfrm>
            <a:off x="10957255" y="6446520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32</a:t>
            </a:r>
            <a:endParaRPr lang="en-US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9144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5BE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Appendix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12064"/>
            <a:ext cx="1118585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모바일 와이어프레임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932688"/>
            <a:ext cx="111858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설계 원본은 모바일 기준으로 작성했다. 앞의 화면들은 같은 코드가 768px 이상에서 전환된 결과다.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371600"/>
            <a:ext cx="25907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5BE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건물 사용자 USER</a:t>
            </a:r>
            <a:endParaRPr lang="en-US" sz="1100" dirty="0"/>
          </a:p>
        </p:txBody>
      </p:sp>
      <p:pic>
        <p:nvPicPr>
          <p:cNvPr id="6" name="Image 0" descr="/Users/smoh/my-workspace/WebMiniProject/docs/img/wf-us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682496"/>
            <a:ext cx="2590724" cy="278826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3367964" y="1371600"/>
            <a:ext cx="25907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5BE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시설물 작업자 WORKER</a:t>
            </a:r>
            <a:endParaRPr lang="en-US" sz="1100" dirty="0"/>
          </a:p>
        </p:txBody>
      </p:sp>
      <p:pic>
        <p:nvPicPr>
          <p:cNvPr id="8" name="Image 1" descr="/Users/smoh/my-workspace/WebMiniProject/docs/img/wf-work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67964" y="1682496"/>
            <a:ext cx="2590724" cy="2799601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6233008" y="1371600"/>
            <a:ext cx="25907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5BE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시설물 관리 소장 ADMIN</a:t>
            </a:r>
            <a:endParaRPr lang="en-US" sz="1100" dirty="0"/>
          </a:p>
        </p:txBody>
      </p:sp>
      <p:pic>
        <p:nvPicPr>
          <p:cNvPr id="10" name="Image 2" descr="/Users/smoh/my-workspace/WebMiniProject/docs/img/wf-admi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3008" y="1682496"/>
            <a:ext cx="2590724" cy="274131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9098051" y="1371600"/>
            <a:ext cx="25907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5BE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예외 및 오류 상태</a:t>
            </a:r>
            <a:endParaRPr lang="en-US" sz="1100" dirty="0"/>
          </a:p>
        </p:txBody>
      </p:sp>
      <p:pic>
        <p:nvPicPr>
          <p:cNvPr id="12" name="Image 3" descr="/Users/smoh/my-workspace/WebMiniProject/docs/img/wf-excep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98051" y="1682496"/>
            <a:ext cx="2590724" cy="1539861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502920" y="64465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오피스 시설 민원 처리 서비스</a:t>
            </a:r>
            <a:endParaRPr lang="en-US" sz="900" dirty="0"/>
          </a:p>
        </p:txBody>
      </p:sp>
      <p:sp>
        <p:nvSpPr>
          <p:cNvPr id="14" name="Text 8"/>
          <p:cNvSpPr txBox="1"/>
          <p:nvPr/>
        </p:nvSpPr>
        <p:spPr>
          <a:xfrm>
            <a:off x="10957255" y="6446520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33</a:t>
            </a:r>
            <a:endParaRPr lang="en-US" sz="9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9144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5BE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06 고려사항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12064"/>
            <a:ext cx="1118585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설계 판단과 남은 과제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325880"/>
            <a:ext cx="5428336" cy="4480560"/>
          </a:xfrm>
          <a:prstGeom prst="roundRect">
            <a:avLst>
              <a:gd name="adj" fmla="val 1224"/>
            </a:avLst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536192"/>
            <a:ext cx="48796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803D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해결한 이슈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1993392"/>
            <a:ext cx="48796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수정·취소의 비밀번호 전달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249424"/>
            <a:ext cx="48796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DELETE 본문은 프록시에서 보장되지 않고 취소가 물리 삭제도 아니므로 POST .../cancel 로 정의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962656"/>
            <a:ext cx="48796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동일 리소스의 두 수정 경로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3218688"/>
            <a:ext cx="48796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수정 가능 필드와 허용 상태가 달라 경로를 분리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3931920"/>
            <a:ext cx="48796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열람 공개에 따른 번호 추측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4187952"/>
            <a:ext cx="48796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비순차 식별자 M-YYMMDD-XXXXXX, 혼동 문자 제외 32자 집합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4901184"/>
            <a:ext cx="48796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작업자 보유 현황 표시 단위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777240" y="5157216"/>
            <a:ext cx="48796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상태 모델에 ASSIGNED 가 없어 진행/대기 구분은 만들 수 없는 수치 — 보유 건수만 표시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260440" y="1325880"/>
            <a:ext cx="5428336" cy="2148840"/>
          </a:xfrm>
          <a:prstGeom prst="roundRect">
            <a:avLst>
              <a:gd name="adj" fmla="val 2553"/>
            </a:avLst>
          </a:prstGeom>
          <a:solidFill>
            <a:srgbClr val="FDF4E3"/>
          </a:solidFill>
          <a:ln w="12700">
            <a:solidFill>
              <a:srgbClr val="FDF4E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534760" y="1536192"/>
            <a:ext cx="48796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A5B0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남은 과제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6534760" y="1993392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4자리 비밀번호의 강도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9460840" y="1993392"/>
            <a:ext cx="1953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무차별 대입에 취약 — 시도 횟수 제한 필요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6534760" y="2487168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비인증 접수의 악용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9460840" y="2487168"/>
            <a:ext cx="1953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허위 신고 사전 통제 수단 없음 — 반려로 사후 대응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6534760" y="2980944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중복 민원 사전 탐지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9460840" y="2980944"/>
            <a:ext cx="1953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판정 기준의 정확도를 검증할 근거가 없어 미도입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260440" y="3657600"/>
            <a:ext cx="5428336" cy="2148840"/>
          </a:xfrm>
          <a:prstGeom prst="roundRect">
            <a:avLst>
              <a:gd name="adj" fmla="val 2553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534760" y="3858768"/>
            <a:ext cx="4879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2차 범위로 미룬 기능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6534760" y="4206240"/>
            <a:ext cx="48796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전체 공지 · 정기 점검 스케줄링 · 비용·자재 정산 · 외주 업체 관리 · 부품 재고 · 외부 알림 연동 · 다건물 확장 · 작업자 보유 상한 · 신고자의 완료 확인과 재요청 · 기준 데이터 관리 화면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6534760" y="5212080"/>
            <a:ext cx="48796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기능이 불필요해서가 아니라, 핵심 가치에 직접 기여하지 않거나 선행 정책 정의가 필요해서 제외했다.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502920" y="64465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오피스 시설 민원 처리 서비스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10957255" y="6446520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34</a:t>
            </a:r>
            <a:endParaRPr lang="en-US" sz="9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111C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0" y="2743200"/>
            <a:ext cx="121916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감사합니다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0" y="3566160"/>
            <a:ext cx="121916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FA6E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오피스 시설 민원 처리 서비스   ·   판교캠퍼스 9반 P293 오승민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35</Slides>
  <Notes>35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3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오피스 시설 민원 처리 서비스 설계</dc:title>
  <dc:subject>PptxGenJS Presentation</dc:subject>
  <dc:creator>오승민</dc:creator>
  <cp:lastModifiedBy>오승민</cp:lastModifiedBy>
  <cp:revision>1</cp:revision>
  <dcterms:created xsi:type="dcterms:W3CDTF">2026-09-15T07:23:11Z</dcterms:created>
  <dcterms:modified xsi:type="dcterms:W3CDTF">2026-09-15T07:23:11Z</dcterms:modified>
</cp:coreProperties>
</file>